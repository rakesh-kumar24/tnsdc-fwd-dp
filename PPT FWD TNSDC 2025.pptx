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9" r:id="rId10"/>
    <p:sldId id="263" r:id="rId11"/>
    <p:sldId id="265" r:id="rId12"/>
  </p:sldIdLst>
  <p:sldSz cx="12192000" cy="6858000"/>
  <p:notesSz cx="12192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830CC7-8040-4162-8342-BB180D82127D}" v="17" dt="2024-08-20T06:41:39.57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66" d="100"/>
          <a:sy n="66" d="100"/>
        </p:scale>
        <p:origin x="644" y="3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B86612-B127-4CD0-BF15-66D49A7175F7}" type="datetimeFigureOut">
              <a:rPr lang="en-IN" smtClean="0"/>
              <a:t>02-09-2025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F439ED-1E90-4106-847A-8EF19031FE2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85579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F439ED-1E90-4106-847A-8EF19031FE2F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3535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195574" y="2067305"/>
            <a:ext cx="5800851" cy="518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2D936B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‹#›</a:t>
            </a:fld>
            <a:endParaRPr spc="1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2D936B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‹#›</a:t>
            </a:fld>
            <a:endParaRPr spc="1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2D936B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‹#›</a:t>
            </a:fld>
            <a:endParaRPr spc="1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2D936B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‹#›</a:t>
            </a:fld>
            <a:endParaRPr spc="1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2D936B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‹#›</a:t>
            </a:fld>
            <a:endParaRPr spc="1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9377426" y="4825"/>
            <a:ext cx="1218565" cy="6853555"/>
          </a:xfrm>
          <a:custGeom>
            <a:avLst/>
            <a:gdLst/>
            <a:ahLst/>
            <a:cxnLst/>
            <a:rect l="l" t="t" r="r" b="b"/>
            <a:pathLst>
              <a:path w="1218565" h="6853555">
                <a:moveTo>
                  <a:pt x="0" y="0"/>
                </a:moveTo>
                <a:lnTo>
                  <a:pt x="1218352" y="6853171"/>
                </a:lnTo>
              </a:path>
            </a:pathLst>
          </a:custGeom>
          <a:ln w="9525">
            <a:solidFill>
              <a:srgbClr val="5FCAE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7448612" y="3694896"/>
            <a:ext cx="4743450" cy="3163570"/>
          </a:xfrm>
          <a:custGeom>
            <a:avLst/>
            <a:gdLst/>
            <a:ahLst/>
            <a:cxnLst/>
            <a:rect l="l" t="t" r="r" b="b"/>
            <a:pathLst>
              <a:path w="4743450" h="3163570">
                <a:moveTo>
                  <a:pt x="4743387" y="0"/>
                </a:moveTo>
                <a:lnTo>
                  <a:pt x="0" y="3163101"/>
                </a:lnTo>
              </a:path>
            </a:pathLst>
          </a:custGeom>
          <a:ln w="9525">
            <a:solidFill>
              <a:srgbClr val="5FCAE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9182100" y="0"/>
            <a:ext cx="3009900" cy="6858000"/>
          </a:xfrm>
          <a:custGeom>
            <a:avLst/>
            <a:gdLst/>
            <a:ahLst/>
            <a:cxnLst/>
            <a:rect l="l" t="t" r="r" b="b"/>
            <a:pathLst>
              <a:path w="3009900" h="6858000">
                <a:moveTo>
                  <a:pt x="3009899" y="0"/>
                </a:moveTo>
                <a:lnTo>
                  <a:pt x="2044399" y="0"/>
                </a:lnTo>
                <a:lnTo>
                  <a:pt x="0" y="6857996"/>
                </a:lnTo>
                <a:lnTo>
                  <a:pt x="3009899" y="6857996"/>
                </a:lnTo>
                <a:lnTo>
                  <a:pt x="3009899" y="0"/>
                </a:lnTo>
                <a:close/>
              </a:path>
            </a:pathLst>
          </a:custGeom>
          <a:solidFill>
            <a:srgbClr val="5FCAEE">
              <a:alpha val="36077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9602878" y="0"/>
            <a:ext cx="2589530" cy="6858000"/>
          </a:xfrm>
          <a:custGeom>
            <a:avLst/>
            <a:gdLst/>
            <a:ahLst/>
            <a:cxnLst/>
            <a:rect l="l" t="t" r="r" b="b"/>
            <a:pathLst>
              <a:path w="2589529" h="6858000">
                <a:moveTo>
                  <a:pt x="2589120" y="0"/>
                </a:moveTo>
                <a:lnTo>
                  <a:pt x="0" y="0"/>
                </a:lnTo>
                <a:lnTo>
                  <a:pt x="1208884" y="6857996"/>
                </a:lnTo>
                <a:lnTo>
                  <a:pt x="2589120" y="6857996"/>
                </a:lnTo>
                <a:lnTo>
                  <a:pt x="2589120" y="0"/>
                </a:lnTo>
                <a:close/>
              </a:path>
            </a:pathLst>
          </a:custGeom>
          <a:solidFill>
            <a:srgbClr val="5FCAEE">
              <a:alpha val="1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8934450" y="3048000"/>
            <a:ext cx="3257550" cy="3810000"/>
          </a:xfrm>
          <a:custGeom>
            <a:avLst/>
            <a:gdLst/>
            <a:ahLst/>
            <a:cxnLst/>
            <a:rect l="l" t="t" r="r" b="b"/>
            <a:pathLst>
              <a:path w="3257550" h="3810000">
                <a:moveTo>
                  <a:pt x="3257550" y="0"/>
                </a:moveTo>
                <a:lnTo>
                  <a:pt x="0" y="3810000"/>
                </a:lnTo>
                <a:lnTo>
                  <a:pt x="3257550" y="3810000"/>
                </a:lnTo>
                <a:lnTo>
                  <a:pt x="3257550" y="0"/>
                </a:lnTo>
                <a:close/>
              </a:path>
            </a:pathLst>
          </a:custGeom>
          <a:solidFill>
            <a:srgbClr val="17AFE3">
              <a:alpha val="65881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9337930" y="0"/>
            <a:ext cx="2854325" cy="6858000"/>
          </a:xfrm>
          <a:custGeom>
            <a:avLst/>
            <a:gdLst/>
            <a:ahLst/>
            <a:cxnLst/>
            <a:rect l="l" t="t" r="r" b="b"/>
            <a:pathLst>
              <a:path w="2854325" h="6858000">
                <a:moveTo>
                  <a:pt x="2854069" y="0"/>
                </a:moveTo>
                <a:lnTo>
                  <a:pt x="0" y="0"/>
                </a:lnTo>
                <a:lnTo>
                  <a:pt x="2470020" y="6857996"/>
                </a:lnTo>
                <a:lnTo>
                  <a:pt x="2854069" y="6857996"/>
                </a:lnTo>
                <a:lnTo>
                  <a:pt x="2854069" y="0"/>
                </a:lnTo>
                <a:close/>
              </a:path>
            </a:pathLst>
          </a:custGeom>
          <a:solidFill>
            <a:srgbClr val="17AFE3">
              <a:alpha val="5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10896600" y="0"/>
            <a:ext cx="1295400" cy="6858000"/>
          </a:xfrm>
          <a:custGeom>
            <a:avLst/>
            <a:gdLst/>
            <a:ahLst/>
            <a:cxnLst/>
            <a:rect l="l" t="t" r="r" b="b"/>
            <a:pathLst>
              <a:path w="1295400" h="6858000">
                <a:moveTo>
                  <a:pt x="1295399" y="0"/>
                </a:moveTo>
                <a:lnTo>
                  <a:pt x="1022453" y="0"/>
                </a:lnTo>
                <a:lnTo>
                  <a:pt x="0" y="6857996"/>
                </a:lnTo>
                <a:lnTo>
                  <a:pt x="1295399" y="6857996"/>
                </a:lnTo>
                <a:lnTo>
                  <a:pt x="1295399" y="0"/>
                </a:lnTo>
                <a:close/>
              </a:path>
            </a:pathLst>
          </a:custGeom>
          <a:solidFill>
            <a:srgbClr val="2D83C3">
              <a:alpha val="7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bg object 23"/>
          <p:cNvSpPr/>
          <p:nvPr/>
        </p:nvSpPr>
        <p:spPr>
          <a:xfrm>
            <a:off x="10936247" y="0"/>
            <a:ext cx="1256030" cy="6858000"/>
          </a:xfrm>
          <a:custGeom>
            <a:avLst/>
            <a:gdLst/>
            <a:ahLst/>
            <a:cxnLst/>
            <a:rect l="l" t="t" r="r" b="b"/>
            <a:pathLst>
              <a:path w="1256029" h="6858000">
                <a:moveTo>
                  <a:pt x="1255752" y="0"/>
                </a:moveTo>
                <a:lnTo>
                  <a:pt x="0" y="0"/>
                </a:lnTo>
                <a:lnTo>
                  <a:pt x="1114527" y="6857996"/>
                </a:lnTo>
                <a:lnTo>
                  <a:pt x="1255752" y="6857996"/>
                </a:lnTo>
                <a:lnTo>
                  <a:pt x="1255752" y="0"/>
                </a:lnTo>
                <a:close/>
              </a:path>
            </a:pathLst>
          </a:custGeom>
          <a:solidFill>
            <a:srgbClr val="226192">
              <a:alpha val="7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bg object 24"/>
          <p:cNvSpPr/>
          <p:nvPr/>
        </p:nvSpPr>
        <p:spPr>
          <a:xfrm>
            <a:off x="10372725" y="3590925"/>
            <a:ext cx="1819275" cy="3267075"/>
          </a:xfrm>
          <a:custGeom>
            <a:avLst/>
            <a:gdLst/>
            <a:ahLst/>
            <a:cxnLst/>
            <a:rect l="l" t="t" r="r" b="b"/>
            <a:pathLst>
              <a:path w="1819275" h="3267075">
                <a:moveTo>
                  <a:pt x="1819275" y="0"/>
                </a:moveTo>
                <a:lnTo>
                  <a:pt x="0" y="3267075"/>
                </a:lnTo>
                <a:lnTo>
                  <a:pt x="1819275" y="3267075"/>
                </a:lnTo>
                <a:lnTo>
                  <a:pt x="1819275" y="0"/>
                </a:lnTo>
                <a:close/>
              </a:path>
            </a:pathLst>
          </a:custGeom>
          <a:solidFill>
            <a:srgbClr val="17AFE3">
              <a:alpha val="65881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bg object 25"/>
          <p:cNvSpPr/>
          <p:nvPr/>
        </p:nvSpPr>
        <p:spPr>
          <a:xfrm>
            <a:off x="0" y="4010025"/>
            <a:ext cx="447675" cy="2847975"/>
          </a:xfrm>
          <a:custGeom>
            <a:avLst/>
            <a:gdLst/>
            <a:ahLst/>
            <a:cxnLst/>
            <a:rect l="l" t="t" r="r" b="b"/>
            <a:pathLst>
              <a:path w="447675" h="2847975">
                <a:moveTo>
                  <a:pt x="0" y="0"/>
                </a:moveTo>
                <a:lnTo>
                  <a:pt x="0" y="2847975"/>
                </a:lnTo>
                <a:lnTo>
                  <a:pt x="447675" y="2847975"/>
                </a:lnTo>
                <a:lnTo>
                  <a:pt x="0" y="0"/>
                </a:lnTo>
                <a:close/>
              </a:path>
            </a:pathLst>
          </a:custGeom>
          <a:solidFill>
            <a:srgbClr val="5FCAEE">
              <a:alpha val="7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55332" y="385444"/>
            <a:ext cx="10681335" cy="7581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8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353418" y="6473337"/>
            <a:ext cx="151129" cy="1917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rgbClr val="2D936B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‹#›</a:t>
            </a:fld>
            <a:endParaRPr spc="1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876299" y="990600"/>
            <a:ext cx="1743075" cy="1333500"/>
            <a:chOff x="742950" y="1104900"/>
            <a:chExt cx="1743075" cy="1333500"/>
          </a:xfrm>
        </p:grpSpPr>
        <p:sp>
          <p:nvSpPr>
            <p:cNvPr id="3" name="object 3"/>
            <p:cNvSpPr/>
            <p:nvPr/>
          </p:nvSpPr>
          <p:spPr>
            <a:xfrm>
              <a:off x="742950" y="1381125"/>
              <a:ext cx="1228725" cy="1057275"/>
            </a:xfrm>
            <a:custGeom>
              <a:avLst/>
              <a:gdLst/>
              <a:ahLst/>
              <a:cxnLst/>
              <a:rect l="l" t="t" r="r" b="b"/>
              <a:pathLst>
                <a:path w="1228725" h="1057275">
                  <a:moveTo>
                    <a:pt x="964438" y="0"/>
                  </a:moveTo>
                  <a:lnTo>
                    <a:pt x="264312" y="0"/>
                  </a:lnTo>
                  <a:lnTo>
                    <a:pt x="0" y="528701"/>
                  </a:lnTo>
                  <a:lnTo>
                    <a:pt x="264312" y="1057275"/>
                  </a:lnTo>
                  <a:lnTo>
                    <a:pt x="964438" y="1057275"/>
                  </a:lnTo>
                  <a:lnTo>
                    <a:pt x="1228725" y="528701"/>
                  </a:lnTo>
                  <a:lnTo>
                    <a:pt x="964438" y="0"/>
                  </a:lnTo>
                  <a:close/>
                </a:path>
              </a:pathLst>
            </a:custGeom>
            <a:solidFill>
              <a:srgbClr val="5FCAE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838325" y="1104900"/>
              <a:ext cx="647700" cy="561975"/>
            </a:xfrm>
            <a:custGeom>
              <a:avLst/>
              <a:gdLst/>
              <a:ahLst/>
              <a:cxnLst/>
              <a:rect l="l" t="t" r="r" b="b"/>
              <a:pathLst>
                <a:path w="647700" h="561975">
                  <a:moveTo>
                    <a:pt x="507238" y="0"/>
                  </a:moveTo>
                  <a:lnTo>
                    <a:pt x="140462" y="0"/>
                  </a:lnTo>
                  <a:lnTo>
                    <a:pt x="0" y="280924"/>
                  </a:lnTo>
                  <a:lnTo>
                    <a:pt x="140462" y="561975"/>
                  </a:lnTo>
                  <a:lnTo>
                    <a:pt x="507238" y="561975"/>
                  </a:lnTo>
                  <a:lnTo>
                    <a:pt x="647700" y="280924"/>
                  </a:lnTo>
                  <a:lnTo>
                    <a:pt x="507238" y="0"/>
                  </a:lnTo>
                  <a:close/>
                </a:path>
              </a:pathLst>
            </a:custGeom>
            <a:solidFill>
              <a:srgbClr val="2D936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3752850" y="1190625"/>
            <a:ext cx="1666875" cy="1438275"/>
          </a:xfrm>
          <a:custGeom>
            <a:avLst/>
            <a:gdLst/>
            <a:ahLst/>
            <a:cxnLst/>
            <a:rect l="l" t="t" r="r" b="b"/>
            <a:pathLst>
              <a:path w="1666875" h="1438275">
                <a:moveTo>
                  <a:pt x="1307338" y="0"/>
                </a:moveTo>
                <a:lnTo>
                  <a:pt x="359537" y="0"/>
                </a:lnTo>
                <a:lnTo>
                  <a:pt x="0" y="719074"/>
                </a:lnTo>
                <a:lnTo>
                  <a:pt x="359537" y="1438275"/>
                </a:lnTo>
                <a:lnTo>
                  <a:pt x="1307338" y="1438275"/>
                </a:lnTo>
                <a:lnTo>
                  <a:pt x="1666875" y="719074"/>
                </a:lnTo>
                <a:lnTo>
                  <a:pt x="1307338" y="0"/>
                </a:lnTo>
                <a:close/>
              </a:path>
            </a:pathLst>
          </a:custGeom>
          <a:solidFill>
            <a:srgbClr val="42D0A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800475" y="5229225"/>
            <a:ext cx="723900" cy="619125"/>
          </a:xfrm>
          <a:custGeom>
            <a:avLst/>
            <a:gdLst/>
            <a:ahLst/>
            <a:cxnLst/>
            <a:rect l="l" t="t" r="r" b="b"/>
            <a:pathLst>
              <a:path w="723900" h="619125">
                <a:moveTo>
                  <a:pt x="569087" y="0"/>
                </a:moveTo>
                <a:lnTo>
                  <a:pt x="154812" y="0"/>
                </a:lnTo>
                <a:lnTo>
                  <a:pt x="0" y="309625"/>
                </a:lnTo>
                <a:lnTo>
                  <a:pt x="154812" y="619125"/>
                </a:lnTo>
                <a:lnTo>
                  <a:pt x="569087" y="619125"/>
                </a:lnTo>
                <a:lnTo>
                  <a:pt x="723900" y="309625"/>
                </a:lnTo>
                <a:lnTo>
                  <a:pt x="569087" y="0"/>
                </a:lnTo>
                <a:close/>
              </a:path>
            </a:pathLst>
          </a:custGeom>
          <a:solidFill>
            <a:srgbClr val="42AF5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ctrTitle"/>
          </p:nvPr>
        </p:nvSpPr>
        <p:spPr>
          <a:xfrm>
            <a:off x="1523999" y="19665"/>
            <a:ext cx="7629525" cy="1001556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213735">
              <a:spcBef>
                <a:spcPts val="130"/>
              </a:spcBef>
            </a:pPr>
            <a:r>
              <a:rPr lang="en-US" b="1" i="0" dirty="0">
                <a:solidFill>
                  <a:srgbClr val="0F0F0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Digital Portfolio </a:t>
            </a:r>
            <a:br>
              <a:rPr lang="en-US" b="1" i="0" dirty="0">
                <a:solidFill>
                  <a:srgbClr val="0F0F0F"/>
                </a:solidFill>
                <a:effectLst/>
                <a:latin typeface="Roboto" panose="020F0502020204030204" pitchFamily="2" charset="0"/>
              </a:rPr>
            </a:br>
            <a:endParaRPr spc="15" dirty="0"/>
          </a:p>
        </p:txBody>
      </p: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76275" y="6467475"/>
            <a:ext cx="2143125" cy="200025"/>
          </a:xfrm>
          <a:prstGeom prst="rect">
            <a:avLst/>
          </a:prstGeom>
        </p:spPr>
      </p:pic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1</a:t>
            </a:fld>
            <a:endParaRPr spc="1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55ADE35-C35B-07C1-F5AA-C33B3DDB802E}"/>
              </a:ext>
            </a:extLst>
          </p:cNvPr>
          <p:cNvSpPr txBox="1"/>
          <p:nvPr/>
        </p:nvSpPr>
        <p:spPr>
          <a:xfrm>
            <a:off x="457200" y="3110736"/>
            <a:ext cx="10551858" cy="193899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dirty="0"/>
              <a:t>STUDENT NAME: </a:t>
            </a:r>
            <a:r>
              <a:rPr lang="en-US" sz="2400" dirty="0" err="1"/>
              <a:t>A.Rakesh</a:t>
            </a:r>
            <a:r>
              <a:rPr lang="en-US" sz="2400" dirty="0"/>
              <a:t> Kumar</a:t>
            </a:r>
          </a:p>
          <a:p>
            <a:r>
              <a:rPr lang="en-US" sz="2400" dirty="0"/>
              <a:t>REGISTER NO AND NMID: 212400224/3099D1200C52A0E90D84FE60A96A6961</a:t>
            </a:r>
            <a:endParaRPr lang="en-US" sz="2400" dirty="0">
              <a:cs typeface="Calibri"/>
            </a:endParaRPr>
          </a:p>
          <a:p>
            <a:r>
              <a:rPr lang="en-US" sz="2400" dirty="0"/>
              <a:t>DEPARTMENT: BCA</a:t>
            </a:r>
          </a:p>
          <a:p>
            <a:r>
              <a:rPr lang="en-US" sz="2400" dirty="0"/>
              <a:t>COLLEGE: DRBCCC HINDU COLEGE/University of Madras</a:t>
            </a:r>
          </a:p>
          <a:p>
            <a:r>
              <a:rPr lang="en-US" sz="2400" dirty="0"/>
              <a:t>           </a:t>
            </a:r>
            <a:endParaRPr lang="en-IN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7443849" y="0"/>
            <a:ext cx="4752975" cy="6863080"/>
            <a:chOff x="7443849" y="0"/>
            <a:chExt cx="4752975" cy="6863080"/>
          </a:xfrm>
        </p:grpSpPr>
        <p:sp>
          <p:nvSpPr>
            <p:cNvPr id="4" name="object 4"/>
            <p:cNvSpPr/>
            <p:nvPr/>
          </p:nvSpPr>
          <p:spPr>
            <a:xfrm>
              <a:off x="9377426" y="4825"/>
              <a:ext cx="1218565" cy="6853555"/>
            </a:xfrm>
            <a:custGeom>
              <a:avLst/>
              <a:gdLst/>
              <a:ahLst/>
              <a:cxnLst/>
              <a:rect l="l" t="t" r="r" b="b"/>
              <a:pathLst>
                <a:path w="1218565" h="6853555">
                  <a:moveTo>
                    <a:pt x="0" y="0"/>
                  </a:moveTo>
                  <a:lnTo>
                    <a:pt x="1218352" y="6853171"/>
                  </a:lnTo>
                </a:path>
              </a:pathLst>
            </a:custGeom>
            <a:ln w="9525">
              <a:solidFill>
                <a:srgbClr val="5FCAE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7448612" y="3694896"/>
              <a:ext cx="4743450" cy="3163570"/>
            </a:xfrm>
            <a:custGeom>
              <a:avLst/>
              <a:gdLst/>
              <a:ahLst/>
              <a:cxnLst/>
              <a:rect l="l" t="t" r="r" b="b"/>
              <a:pathLst>
                <a:path w="4743450" h="3163570">
                  <a:moveTo>
                    <a:pt x="4743387" y="0"/>
                  </a:moveTo>
                  <a:lnTo>
                    <a:pt x="0" y="3163101"/>
                  </a:lnTo>
                </a:path>
              </a:pathLst>
            </a:custGeom>
            <a:ln w="9525">
              <a:solidFill>
                <a:srgbClr val="5FCAE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182100" y="0"/>
              <a:ext cx="3009900" cy="6858000"/>
            </a:xfrm>
            <a:custGeom>
              <a:avLst/>
              <a:gdLst/>
              <a:ahLst/>
              <a:cxnLst/>
              <a:rect l="l" t="t" r="r" b="b"/>
              <a:pathLst>
                <a:path w="3009900" h="6858000">
                  <a:moveTo>
                    <a:pt x="3009899" y="0"/>
                  </a:moveTo>
                  <a:lnTo>
                    <a:pt x="2044399" y="0"/>
                  </a:lnTo>
                  <a:lnTo>
                    <a:pt x="0" y="6857996"/>
                  </a:lnTo>
                  <a:lnTo>
                    <a:pt x="3009899" y="6857996"/>
                  </a:lnTo>
                  <a:lnTo>
                    <a:pt x="3009899" y="0"/>
                  </a:lnTo>
                  <a:close/>
                </a:path>
              </a:pathLst>
            </a:custGeom>
            <a:solidFill>
              <a:srgbClr val="5FCAEE">
                <a:alpha val="36077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9602878" y="0"/>
              <a:ext cx="2589530" cy="6858000"/>
            </a:xfrm>
            <a:custGeom>
              <a:avLst/>
              <a:gdLst/>
              <a:ahLst/>
              <a:cxnLst/>
              <a:rect l="l" t="t" r="r" b="b"/>
              <a:pathLst>
                <a:path w="2589529" h="6858000">
                  <a:moveTo>
                    <a:pt x="2589120" y="0"/>
                  </a:moveTo>
                  <a:lnTo>
                    <a:pt x="0" y="0"/>
                  </a:lnTo>
                  <a:lnTo>
                    <a:pt x="1208884" y="6857996"/>
                  </a:lnTo>
                  <a:lnTo>
                    <a:pt x="2589120" y="6857996"/>
                  </a:lnTo>
                  <a:lnTo>
                    <a:pt x="2589120" y="0"/>
                  </a:lnTo>
                  <a:close/>
                </a:path>
              </a:pathLst>
            </a:custGeom>
            <a:solidFill>
              <a:srgbClr val="5FCAEE">
                <a:alpha val="1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934450" y="3048000"/>
              <a:ext cx="3257550" cy="3810000"/>
            </a:xfrm>
            <a:custGeom>
              <a:avLst/>
              <a:gdLst/>
              <a:ahLst/>
              <a:cxnLst/>
              <a:rect l="l" t="t" r="r" b="b"/>
              <a:pathLst>
                <a:path w="3257550" h="3810000">
                  <a:moveTo>
                    <a:pt x="3257550" y="0"/>
                  </a:moveTo>
                  <a:lnTo>
                    <a:pt x="0" y="3810000"/>
                  </a:lnTo>
                  <a:lnTo>
                    <a:pt x="3257550" y="3810000"/>
                  </a:lnTo>
                  <a:lnTo>
                    <a:pt x="3257550" y="0"/>
                  </a:lnTo>
                  <a:close/>
                </a:path>
              </a:pathLst>
            </a:custGeom>
            <a:solidFill>
              <a:srgbClr val="17AFE3">
                <a:alpha val="65881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9337930" y="0"/>
              <a:ext cx="2854325" cy="6858000"/>
            </a:xfrm>
            <a:custGeom>
              <a:avLst/>
              <a:gdLst/>
              <a:ahLst/>
              <a:cxnLst/>
              <a:rect l="l" t="t" r="r" b="b"/>
              <a:pathLst>
                <a:path w="2854325" h="6858000">
                  <a:moveTo>
                    <a:pt x="2854069" y="0"/>
                  </a:moveTo>
                  <a:lnTo>
                    <a:pt x="0" y="0"/>
                  </a:lnTo>
                  <a:lnTo>
                    <a:pt x="2470020" y="6857996"/>
                  </a:lnTo>
                  <a:lnTo>
                    <a:pt x="2854069" y="6857996"/>
                  </a:lnTo>
                  <a:lnTo>
                    <a:pt x="2854069" y="0"/>
                  </a:lnTo>
                  <a:close/>
                </a:path>
              </a:pathLst>
            </a:custGeom>
            <a:solidFill>
              <a:srgbClr val="17AFE3">
                <a:alpha val="50195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0896600" y="0"/>
              <a:ext cx="1295400" cy="6858000"/>
            </a:xfrm>
            <a:custGeom>
              <a:avLst/>
              <a:gdLst/>
              <a:ahLst/>
              <a:cxnLst/>
              <a:rect l="l" t="t" r="r" b="b"/>
              <a:pathLst>
                <a:path w="1295400" h="6858000">
                  <a:moveTo>
                    <a:pt x="1295399" y="0"/>
                  </a:moveTo>
                  <a:lnTo>
                    <a:pt x="1022453" y="0"/>
                  </a:lnTo>
                  <a:lnTo>
                    <a:pt x="0" y="6857996"/>
                  </a:lnTo>
                  <a:lnTo>
                    <a:pt x="1295399" y="6857996"/>
                  </a:lnTo>
                  <a:lnTo>
                    <a:pt x="1295399" y="0"/>
                  </a:lnTo>
                  <a:close/>
                </a:path>
              </a:pathLst>
            </a:custGeom>
            <a:solidFill>
              <a:srgbClr val="2D83C3">
                <a:alpha val="70195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0936247" y="0"/>
              <a:ext cx="1256030" cy="6858000"/>
            </a:xfrm>
            <a:custGeom>
              <a:avLst/>
              <a:gdLst/>
              <a:ahLst/>
              <a:cxnLst/>
              <a:rect l="l" t="t" r="r" b="b"/>
              <a:pathLst>
                <a:path w="1256029" h="6858000">
                  <a:moveTo>
                    <a:pt x="1255752" y="0"/>
                  </a:moveTo>
                  <a:lnTo>
                    <a:pt x="0" y="0"/>
                  </a:lnTo>
                  <a:lnTo>
                    <a:pt x="1114527" y="6857996"/>
                  </a:lnTo>
                  <a:lnTo>
                    <a:pt x="1255752" y="6857996"/>
                  </a:lnTo>
                  <a:lnTo>
                    <a:pt x="1255752" y="0"/>
                  </a:lnTo>
                  <a:close/>
                </a:path>
              </a:pathLst>
            </a:custGeom>
            <a:solidFill>
              <a:srgbClr val="226192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0372725" y="3590925"/>
              <a:ext cx="1819275" cy="3267075"/>
            </a:xfrm>
            <a:custGeom>
              <a:avLst/>
              <a:gdLst/>
              <a:ahLst/>
              <a:cxnLst/>
              <a:rect l="l" t="t" r="r" b="b"/>
              <a:pathLst>
                <a:path w="1819275" h="3267075">
                  <a:moveTo>
                    <a:pt x="1819275" y="0"/>
                  </a:moveTo>
                  <a:lnTo>
                    <a:pt x="0" y="3267075"/>
                  </a:lnTo>
                  <a:lnTo>
                    <a:pt x="1819275" y="3267075"/>
                  </a:lnTo>
                  <a:lnTo>
                    <a:pt x="1819275" y="0"/>
                  </a:lnTo>
                  <a:close/>
                </a:path>
              </a:pathLst>
            </a:custGeom>
            <a:solidFill>
              <a:srgbClr val="17AFE3">
                <a:alpha val="65881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/>
          <p:nvPr/>
        </p:nvSpPr>
        <p:spPr>
          <a:xfrm>
            <a:off x="0" y="4010025"/>
            <a:ext cx="447675" cy="2847975"/>
          </a:xfrm>
          <a:custGeom>
            <a:avLst/>
            <a:gdLst/>
            <a:ahLst/>
            <a:cxnLst/>
            <a:rect l="l" t="t" r="r" b="b"/>
            <a:pathLst>
              <a:path w="447675" h="2847975">
                <a:moveTo>
                  <a:pt x="0" y="0"/>
                </a:moveTo>
                <a:lnTo>
                  <a:pt x="0" y="2847975"/>
                </a:lnTo>
                <a:lnTo>
                  <a:pt x="447675" y="2847975"/>
                </a:lnTo>
                <a:lnTo>
                  <a:pt x="0" y="0"/>
                </a:lnTo>
                <a:close/>
              </a:path>
            </a:pathLst>
          </a:custGeom>
          <a:solidFill>
            <a:srgbClr val="5FCAEE">
              <a:alpha val="7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9353550" y="536257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0"/>
                </a:moveTo>
                <a:lnTo>
                  <a:pt x="0" y="0"/>
                </a:lnTo>
                <a:lnTo>
                  <a:pt x="0" y="457200"/>
                </a:lnTo>
                <a:lnTo>
                  <a:pt x="457200" y="457200"/>
                </a:lnTo>
                <a:lnTo>
                  <a:pt x="457200" y="0"/>
                </a:lnTo>
                <a:close/>
              </a:path>
            </a:pathLst>
          </a:custGeom>
          <a:solidFill>
            <a:srgbClr val="42AF5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6696075" y="1695450"/>
            <a:ext cx="314325" cy="323850"/>
          </a:xfrm>
          <a:custGeom>
            <a:avLst/>
            <a:gdLst/>
            <a:ahLst/>
            <a:cxnLst/>
            <a:rect l="l" t="t" r="r" b="b"/>
            <a:pathLst>
              <a:path w="314325" h="323850">
                <a:moveTo>
                  <a:pt x="314325" y="0"/>
                </a:moveTo>
                <a:lnTo>
                  <a:pt x="0" y="0"/>
                </a:lnTo>
                <a:lnTo>
                  <a:pt x="0" y="323850"/>
                </a:lnTo>
                <a:lnTo>
                  <a:pt x="314325" y="323850"/>
                </a:lnTo>
                <a:lnTo>
                  <a:pt x="314325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9353550" y="5895975"/>
            <a:ext cx="180975" cy="180975"/>
          </a:xfrm>
          <a:custGeom>
            <a:avLst/>
            <a:gdLst/>
            <a:ahLst/>
            <a:cxnLst/>
            <a:rect l="l" t="t" r="r" b="b"/>
            <a:pathLst>
              <a:path w="180975" h="180975">
                <a:moveTo>
                  <a:pt x="180975" y="0"/>
                </a:moveTo>
                <a:lnTo>
                  <a:pt x="0" y="0"/>
                </a:lnTo>
                <a:lnTo>
                  <a:pt x="0" y="180975"/>
                </a:lnTo>
                <a:lnTo>
                  <a:pt x="180975" y="180975"/>
                </a:lnTo>
                <a:lnTo>
                  <a:pt x="180975" y="0"/>
                </a:lnTo>
                <a:close/>
              </a:path>
            </a:pathLst>
          </a:custGeom>
          <a:solidFill>
            <a:srgbClr val="2D936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>
            <a:spLocks noGrp="1"/>
          </p:cNvSpPr>
          <p:nvPr>
            <p:ph type="title"/>
          </p:nvPr>
        </p:nvSpPr>
        <p:spPr>
          <a:xfrm>
            <a:off x="739775" y="829627"/>
            <a:ext cx="3909695" cy="678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4250" spc="5" dirty="0"/>
              <a:t>PROJECT</a:t>
            </a:r>
            <a:r>
              <a:rPr sz="4250" spc="-85" dirty="0"/>
              <a:t> </a:t>
            </a:r>
            <a:r>
              <a:rPr sz="4250" spc="25" dirty="0"/>
              <a:t>TITLE</a:t>
            </a:r>
            <a:endParaRPr sz="4250"/>
          </a:p>
        </p:txBody>
      </p:sp>
      <p:grpSp>
        <p:nvGrpSpPr>
          <p:cNvPr id="18" name="object 18"/>
          <p:cNvGrpSpPr/>
          <p:nvPr/>
        </p:nvGrpSpPr>
        <p:grpSpPr>
          <a:xfrm>
            <a:off x="466725" y="6410325"/>
            <a:ext cx="3705225" cy="295275"/>
            <a:chOff x="466725" y="6410325"/>
            <a:chExt cx="3705225" cy="295275"/>
          </a:xfrm>
        </p:grpSpPr>
        <p:pic>
          <p:nvPicPr>
            <p:cNvPr id="19" name="object 1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6275" y="6467475"/>
              <a:ext cx="2143125" cy="200025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66725" y="6410325"/>
              <a:ext cx="3705225" cy="295275"/>
            </a:xfrm>
            <a:prstGeom prst="rect">
              <a:avLst/>
            </a:prstGeom>
          </p:spPr>
        </p:pic>
      </p:grp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2</a:t>
            </a:fld>
            <a:endParaRPr spc="1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207BC50-3E04-E010-774A-7B80C23200E8}"/>
              </a:ext>
            </a:extLst>
          </p:cNvPr>
          <p:cNvSpPr txBox="1"/>
          <p:nvPr/>
        </p:nvSpPr>
        <p:spPr>
          <a:xfrm>
            <a:off x="3166570" y="2883098"/>
            <a:ext cx="61766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Analyst Portfolio</a:t>
            </a: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-76200" y="28579"/>
            <a:ext cx="12481713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pSp>
        <p:nvGrpSpPr>
          <p:cNvPr id="3" name="object 3"/>
          <p:cNvGrpSpPr/>
          <p:nvPr/>
        </p:nvGrpSpPr>
        <p:grpSpPr>
          <a:xfrm>
            <a:off x="7443849" y="0"/>
            <a:ext cx="4752975" cy="6863080"/>
            <a:chOff x="7443849" y="0"/>
            <a:chExt cx="4752975" cy="6863080"/>
          </a:xfrm>
        </p:grpSpPr>
        <p:sp>
          <p:nvSpPr>
            <p:cNvPr id="4" name="object 4"/>
            <p:cNvSpPr/>
            <p:nvPr/>
          </p:nvSpPr>
          <p:spPr>
            <a:xfrm>
              <a:off x="9377426" y="4825"/>
              <a:ext cx="1218565" cy="6853555"/>
            </a:xfrm>
            <a:custGeom>
              <a:avLst/>
              <a:gdLst/>
              <a:ahLst/>
              <a:cxnLst/>
              <a:rect l="l" t="t" r="r" b="b"/>
              <a:pathLst>
                <a:path w="1218565" h="6853555">
                  <a:moveTo>
                    <a:pt x="0" y="0"/>
                  </a:moveTo>
                  <a:lnTo>
                    <a:pt x="1218352" y="6853171"/>
                  </a:lnTo>
                </a:path>
              </a:pathLst>
            </a:custGeom>
            <a:ln w="9525">
              <a:solidFill>
                <a:srgbClr val="5FCAE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7448612" y="3694896"/>
              <a:ext cx="4743450" cy="3163570"/>
            </a:xfrm>
            <a:custGeom>
              <a:avLst/>
              <a:gdLst/>
              <a:ahLst/>
              <a:cxnLst/>
              <a:rect l="l" t="t" r="r" b="b"/>
              <a:pathLst>
                <a:path w="4743450" h="3163570">
                  <a:moveTo>
                    <a:pt x="4743387" y="0"/>
                  </a:moveTo>
                  <a:lnTo>
                    <a:pt x="0" y="3163101"/>
                  </a:lnTo>
                </a:path>
              </a:pathLst>
            </a:custGeom>
            <a:ln w="9525">
              <a:solidFill>
                <a:srgbClr val="5FCAE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182100" y="0"/>
              <a:ext cx="3009900" cy="6858000"/>
            </a:xfrm>
            <a:custGeom>
              <a:avLst/>
              <a:gdLst/>
              <a:ahLst/>
              <a:cxnLst/>
              <a:rect l="l" t="t" r="r" b="b"/>
              <a:pathLst>
                <a:path w="3009900" h="6858000">
                  <a:moveTo>
                    <a:pt x="3009899" y="0"/>
                  </a:moveTo>
                  <a:lnTo>
                    <a:pt x="2044399" y="0"/>
                  </a:lnTo>
                  <a:lnTo>
                    <a:pt x="0" y="6857996"/>
                  </a:lnTo>
                  <a:lnTo>
                    <a:pt x="3009899" y="6857996"/>
                  </a:lnTo>
                  <a:lnTo>
                    <a:pt x="3009899" y="0"/>
                  </a:lnTo>
                  <a:close/>
                </a:path>
              </a:pathLst>
            </a:custGeom>
            <a:solidFill>
              <a:srgbClr val="5FCAEE">
                <a:alpha val="36077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9602878" y="0"/>
              <a:ext cx="2589530" cy="6858000"/>
            </a:xfrm>
            <a:custGeom>
              <a:avLst/>
              <a:gdLst/>
              <a:ahLst/>
              <a:cxnLst/>
              <a:rect l="l" t="t" r="r" b="b"/>
              <a:pathLst>
                <a:path w="2589529" h="6858000">
                  <a:moveTo>
                    <a:pt x="2589120" y="0"/>
                  </a:moveTo>
                  <a:lnTo>
                    <a:pt x="0" y="0"/>
                  </a:lnTo>
                  <a:lnTo>
                    <a:pt x="1208884" y="6857996"/>
                  </a:lnTo>
                  <a:lnTo>
                    <a:pt x="2589120" y="6857996"/>
                  </a:lnTo>
                  <a:lnTo>
                    <a:pt x="2589120" y="0"/>
                  </a:lnTo>
                  <a:close/>
                </a:path>
              </a:pathLst>
            </a:custGeom>
            <a:solidFill>
              <a:srgbClr val="5FCAEE">
                <a:alpha val="1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934450" y="3048000"/>
              <a:ext cx="3257550" cy="3810000"/>
            </a:xfrm>
            <a:custGeom>
              <a:avLst/>
              <a:gdLst/>
              <a:ahLst/>
              <a:cxnLst/>
              <a:rect l="l" t="t" r="r" b="b"/>
              <a:pathLst>
                <a:path w="3257550" h="3810000">
                  <a:moveTo>
                    <a:pt x="3257550" y="0"/>
                  </a:moveTo>
                  <a:lnTo>
                    <a:pt x="0" y="3810000"/>
                  </a:lnTo>
                  <a:lnTo>
                    <a:pt x="3257550" y="3810000"/>
                  </a:lnTo>
                  <a:lnTo>
                    <a:pt x="3257550" y="0"/>
                  </a:lnTo>
                  <a:close/>
                </a:path>
              </a:pathLst>
            </a:custGeom>
            <a:solidFill>
              <a:srgbClr val="17AFE3">
                <a:alpha val="65881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9337930" y="0"/>
              <a:ext cx="2854325" cy="6858000"/>
            </a:xfrm>
            <a:custGeom>
              <a:avLst/>
              <a:gdLst/>
              <a:ahLst/>
              <a:cxnLst/>
              <a:rect l="l" t="t" r="r" b="b"/>
              <a:pathLst>
                <a:path w="2854325" h="6858000">
                  <a:moveTo>
                    <a:pt x="2854069" y="0"/>
                  </a:moveTo>
                  <a:lnTo>
                    <a:pt x="0" y="0"/>
                  </a:lnTo>
                  <a:lnTo>
                    <a:pt x="2470020" y="6857996"/>
                  </a:lnTo>
                  <a:lnTo>
                    <a:pt x="2854069" y="6857996"/>
                  </a:lnTo>
                  <a:lnTo>
                    <a:pt x="2854069" y="0"/>
                  </a:lnTo>
                  <a:close/>
                </a:path>
              </a:pathLst>
            </a:custGeom>
            <a:solidFill>
              <a:srgbClr val="17AFE3">
                <a:alpha val="50195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0896600" y="0"/>
              <a:ext cx="1295400" cy="6858000"/>
            </a:xfrm>
            <a:custGeom>
              <a:avLst/>
              <a:gdLst/>
              <a:ahLst/>
              <a:cxnLst/>
              <a:rect l="l" t="t" r="r" b="b"/>
              <a:pathLst>
                <a:path w="1295400" h="6858000">
                  <a:moveTo>
                    <a:pt x="1295399" y="0"/>
                  </a:moveTo>
                  <a:lnTo>
                    <a:pt x="1022453" y="0"/>
                  </a:lnTo>
                  <a:lnTo>
                    <a:pt x="0" y="6857996"/>
                  </a:lnTo>
                  <a:lnTo>
                    <a:pt x="1295399" y="6857996"/>
                  </a:lnTo>
                  <a:lnTo>
                    <a:pt x="1295399" y="0"/>
                  </a:lnTo>
                  <a:close/>
                </a:path>
              </a:pathLst>
            </a:custGeom>
            <a:solidFill>
              <a:srgbClr val="2D83C3">
                <a:alpha val="70195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0936247" y="0"/>
              <a:ext cx="1256030" cy="6858000"/>
            </a:xfrm>
            <a:custGeom>
              <a:avLst/>
              <a:gdLst/>
              <a:ahLst/>
              <a:cxnLst/>
              <a:rect l="l" t="t" r="r" b="b"/>
              <a:pathLst>
                <a:path w="1256029" h="6858000">
                  <a:moveTo>
                    <a:pt x="1255752" y="0"/>
                  </a:moveTo>
                  <a:lnTo>
                    <a:pt x="0" y="0"/>
                  </a:lnTo>
                  <a:lnTo>
                    <a:pt x="1114527" y="6857996"/>
                  </a:lnTo>
                  <a:lnTo>
                    <a:pt x="1255752" y="6857996"/>
                  </a:lnTo>
                  <a:lnTo>
                    <a:pt x="1255752" y="0"/>
                  </a:lnTo>
                  <a:close/>
                </a:path>
              </a:pathLst>
            </a:custGeom>
            <a:solidFill>
              <a:srgbClr val="226192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0372725" y="3590925"/>
              <a:ext cx="1819275" cy="3267075"/>
            </a:xfrm>
            <a:custGeom>
              <a:avLst/>
              <a:gdLst/>
              <a:ahLst/>
              <a:cxnLst/>
              <a:rect l="l" t="t" r="r" b="b"/>
              <a:pathLst>
                <a:path w="1819275" h="3267075">
                  <a:moveTo>
                    <a:pt x="1819275" y="0"/>
                  </a:moveTo>
                  <a:lnTo>
                    <a:pt x="0" y="3267075"/>
                  </a:lnTo>
                  <a:lnTo>
                    <a:pt x="1819275" y="3267075"/>
                  </a:lnTo>
                  <a:lnTo>
                    <a:pt x="1819275" y="0"/>
                  </a:lnTo>
                  <a:close/>
                </a:path>
              </a:pathLst>
            </a:custGeom>
            <a:solidFill>
              <a:srgbClr val="17AFE3">
                <a:alpha val="65881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/>
          <p:nvPr/>
        </p:nvSpPr>
        <p:spPr>
          <a:xfrm>
            <a:off x="0" y="4010025"/>
            <a:ext cx="447675" cy="2847975"/>
          </a:xfrm>
          <a:custGeom>
            <a:avLst/>
            <a:gdLst/>
            <a:ahLst/>
            <a:cxnLst/>
            <a:rect l="l" t="t" r="r" b="b"/>
            <a:pathLst>
              <a:path w="447675" h="2847975">
                <a:moveTo>
                  <a:pt x="0" y="0"/>
                </a:moveTo>
                <a:lnTo>
                  <a:pt x="0" y="2847975"/>
                </a:lnTo>
                <a:lnTo>
                  <a:pt x="447675" y="2847975"/>
                </a:lnTo>
                <a:lnTo>
                  <a:pt x="0" y="0"/>
                </a:lnTo>
                <a:close/>
              </a:path>
            </a:pathLst>
          </a:custGeom>
          <a:solidFill>
            <a:srgbClr val="5FCAEE">
              <a:alpha val="7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752475" y="6486037"/>
            <a:ext cx="1773555" cy="16637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275"/>
              </a:lnSpc>
            </a:pPr>
            <a:r>
              <a:rPr sz="1100" spc="20" dirty="0">
                <a:solidFill>
                  <a:srgbClr val="2D83C3"/>
                </a:solidFill>
                <a:latin typeface="Trebuchet MS"/>
                <a:cs typeface="Trebuchet MS"/>
              </a:rPr>
              <a:t>3/21/202</a:t>
            </a:r>
            <a:r>
              <a:rPr sz="1100" spc="10" dirty="0">
                <a:solidFill>
                  <a:srgbClr val="2D83C3"/>
                </a:solidFill>
                <a:latin typeface="Trebuchet MS"/>
                <a:cs typeface="Trebuchet MS"/>
              </a:rPr>
              <a:t>4</a:t>
            </a:r>
            <a:r>
              <a:rPr sz="1100" dirty="0">
                <a:solidFill>
                  <a:srgbClr val="2D83C3"/>
                </a:solidFill>
                <a:latin typeface="Trebuchet MS"/>
                <a:cs typeface="Trebuchet MS"/>
              </a:rPr>
              <a:t> </a:t>
            </a:r>
            <a:r>
              <a:rPr sz="1100" spc="130" dirty="0">
                <a:solidFill>
                  <a:srgbClr val="2D83C3"/>
                </a:solidFill>
                <a:latin typeface="Trebuchet MS"/>
                <a:cs typeface="Trebuchet MS"/>
              </a:rPr>
              <a:t> </a:t>
            </a:r>
            <a:r>
              <a:rPr sz="1100" b="1" spc="50" dirty="0">
                <a:solidFill>
                  <a:srgbClr val="2D83C3"/>
                </a:solidFill>
                <a:latin typeface="Trebuchet MS"/>
                <a:cs typeface="Trebuchet MS"/>
              </a:rPr>
              <a:t>A</a:t>
            </a:r>
            <a:r>
              <a:rPr sz="1100" b="1" spc="15" dirty="0">
                <a:solidFill>
                  <a:srgbClr val="2D83C3"/>
                </a:solidFill>
                <a:latin typeface="Trebuchet MS"/>
                <a:cs typeface="Trebuchet MS"/>
              </a:rPr>
              <a:t>nnu</a:t>
            </a:r>
            <a:r>
              <a:rPr sz="1100" b="1" spc="10" dirty="0">
                <a:solidFill>
                  <a:srgbClr val="2D83C3"/>
                </a:solidFill>
                <a:latin typeface="Trebuchet MS"/>
                <a:cs typeface="Trebuchet MS"/>
              </a:rPr>
              <a:t>al</a:t>
            </a:r>
            <a:r>
              <a:rPr sz="1100" b="1" spc="-140" dirty="0">
                <a:solidFill>
                  <a:srgbClr val="2D83C3"/>
                </a:solidFill>
                <a:latin typeface="Trebuchet MS"/>
                <a:cs typeface="Trebuchet MS"/>
              </a:rPr>
              <a:t> </a:t>
            </a:r>
            <a:r>
              <a:rPr sz="1100" b="1" dirty="0">
                <a:solidFill>
                  <a:srgbClr val="2D83C3"/>
                </a:solidFill>
                <a:latin typeface="Trebuchet MS"/>
                <a:cs typeface="Trebuchet MS"/>
              </a:rPr>
              <a:t>R</a:t>
            </a:r>
            <a:r>
              <a:rPr sz="1100" b="1" spc="35" dirty="0">
                <a:solidFill>
                  <a:srgbClr val="2D83C3"/>
                </a:solidFill>
                <a:latin typeface="Trebuchet MS"/>
                <a:cs typeface="Trebuchet MS"/>
              </a:rPr>
              <a:t>e</a:t>
            </a:r>
            <a:r>
              <a:rPr sz="1100" b="1" spc="90" dirty="0">
                <a:solidFill>
                  <a:srgbClr val="2D83C3"/>
                </a:solidFill>
                <a:latin typeface="Trebuchet MS"/>
                <a:cs typeface="Trebuchet MS"/>
              </a:rPr>
              <a:t>v</a:t>
            </a:r>
            <a:r>
              <a:rPr sz="1100" b="1" spc="-35" dirty="0">
                <a:solidFill>
                  <a:srgbClr val="2D83C3"/>
                </a:solidFill>
                <a:latin typeface="Trebuchet MS"/>
                <a:cs typeface="Trebuchet MS"/>
              </a:rPr>
              <a:t>i</a:t>
            </a:r>
            <a:r>
              <a:rPr sz="1100" b="1" spc="35" dirty="0">
                <a:solidFill>
                  <a:srgbClr val="2D83C3"/>
                </a:solidFill>
                <a:latin typeface="Trebuchet MS"/>
                <a:cs typeface="Trebuchet MS"/>
              </a:rPr>
              <a:t>e</a:t>
            </a:r>
            <a:r>
              <a:rPr sz="1100" b="1" spc="15" dirty="0">
                <a:solidFill>
                  <a:srgbClr val="2D83C3"/>
                </a:solidFill>
                <a:latin typeface="Trebuchet MS"/>
                <a:cs typeface="Trebuchet MS"/>
              </a:rPr>
              <a:t>w</a:t>
            </a:r>
            <a:endParaRPr sz="1100">
              <a:latin typeface="Trebuchet MS"/>
              <a:cs typeface="Trebuchet MS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7362825" y="447675"/>
            <a:ext cx="361950" cy="361950"/>
          </a:xfrm>
          <a:custGeom>
            <a:avLst/>
            <a:gdLst/>
            <a:ahLst/>
            <a:cxnLst/>
            <a:rect l="l" t="t" r="r" b="b"/>
            <a:pathLst>
              <a:path w="361950" h="361950">
                <a:moveTo>
                  <a:pt x="180975" y="0"/>
                </a:moveTo>
                <a:lnTo>
                  <a:pt x="132864" y="6464"/>
                </a:lnTo>
                <a:lnTo>
                  <a:pt x="89633" y="24708"/>
                </a:lnTo>
                <a:lnTo>
                  <a:pt x="53006" y="53006"/>
                </a:lnTo>
                <a:lnTo>
                  <a:pt x="24708" y="89633"/>
                </a:lnTo>
                <a:lnTo>
                  <a:pt x="6464" y="132864"/>
                </a:lnTo>
                <a:lnTo>
                  <a:pt x="0" y="180975"/>
                </a:lnTo>
                <a:lnTo>
                  <a:pt x="6464" y="229085"/>
                </a:lnTo>
                <a:lnTo>
                  <a:pt x="24708" y="272316"/>
                </a:lnTo>
                <a:lnTo>
                  <a:pt x="53006" y="308943"/>
                </a:lnTo>
                <a:lnTo>
                  <a:pt x="89633" y="337241"/>
                </a:lnTo>
                <a:lnTo>
                  <a:pt x="132864" y="355485"/>
                </a:lnTo>
                <a:lnTo>
                  <a:pt x="180975" y="361950"/>
                </a:lnTo>
                <a:lnTo>
                  <a:pt x="229085" y="355485"/>
                </a:lnTo>
                <a:lnTo>
                  <a:pt x="272316" y="337241"/>
                </a:lnTo>
                <a:lnTo>
                  <a:pt x="308943" y="308943"/>
                </a:lnTo>
                <a:lnTo>
                  <a:pt x="337241" y="272316"/>
                </a:lnTo>
                <a:lnTo>
                  <a:pt x="355485" y="229085"/>
                </a:lnTo>
                <a:lnTo>
                  <a:pt x="361950" y="180975"/>
                </a:lnTo>
                <a:lnTo>
                  <a:pt x="355485" y="132864"/>
                </a:lnTo>
                <a:lnTo>
                  <a:pt x="337241" y="89633"/>
                </a:lnTo>
                <a:lnTo>
                  <a:pt x="308943" y="53006"/>
                </a:lnTo>
                <a:lnTo>
                  <a:pt x="272316" y="24708"/>
                </a:lnTo>
                <a:lnTo>
                  <a:pt x="229085" y="6464"/>
                </a:lnTo>
                <a:lnTo>
                  <a:pt x="180975" y="0"/>
                </a:lnTo>
                <a:close/>
              </a:path>
            </a:pathLst>
          </a:custGeom>
          <a:solidFill>
            <a:srgbClr val="EBEB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1010900" y="5610225"/>
            <a:ext cx="647700" cy="647700"/>
          </a:xfrm>
          <a:custGeom>
            <a:avLst/>
            <a:gdLst/>
            <a:ahLst/>
            <a:cxnLst/>
            <a:rect l="l" t="t" r="r" b="b"/>
            <a:pathLst>
              <a:path w="647700" h="647700">
                <a:moveTo>
                  <a:pt x="323850" y="0"/>
                </a:moveTo>
                <a:lnTo>
                  <a:pt x="276003" y="3511"/>
                </a:lnTo>
                <a:lnTo>
                  <a:pt x="230332" y="13711"/>
                </a:lnTo>
                <a:lnTo>
                  <a:pt x="187340" y="30099"/>
                </a:lnTo>
                <a:lnTo>
                  <a:pt x="147528" y="52175"/>
                </a:lnTo>
                <a:lnTo>
                  <a:pt x="111397" y="79436"/>
                </a:lnTo>
                <a:lnTo>
                  <a:pt x="79448" y="111381"/>
                </a:lnTo>
                <a:lnTo>
                  <a:pt x="52184" y="147511"/>
                </a:lnTo>
                <a:lnTo>
                  <a:pt x="30106" y="187324"/>
                </a:lnTo>
                <a:lnTo>
                  <a:pt x="13714" y="230319"/>
                </a:lnTo>
                <a:lnTo>
                  <a:pt x="3512" y="275994"/>
                </a:lnTo>
                <a:lnTo>
                  <a:pt x="0" y="323850"/>
                </a:lnTo>
                <a:lnTo>
                  <a:pt x="3512" y="371705"/>
                </a:lnTo>
                <a:lnTo>
                  <a:pt x="13714" y="417380"/>
                </a:lnTo>
                <a:lnTo>
                  <a:pt x="30106" y="460375"/>
                </a:lnTo>
                <a:lnTo>
                  <a:pt x="52184" y="500188"/>
                </a:lnTo>
                <a:lnTo>
                  <a:pt x="79448" y="536318"/>
                </a:lnTo>
                <a:lnTo>
                  <a:pt x="111397" y="568263"/>
                </a:lnTo>
                <a:lnTo>
                  <a:pt x="147528" y="595524"/>
                </a:lnTo>
                <a:lnTo>
                  <a:pt x="187340" y="617600"/>
                </a:lnTo>
                <a:lnTo>
                  <a:pt x="230332" y="633988"/>
                </a:lnTo>
                <a:lnTo>
                  <a:pt x="276003" y="644188"/>
                </a:lnTo>
                <a:lnTo>
                  <a:pt x="323850" y="647700"/>
                </a:lnTo>
                <a:lnTo>
                  <a:pt x="371696" y="644188"/>
                </a:lnTo>
                <a:lnTo>
                  <a:pt x="417367" y="633988"/>
                </a:lnTo>
                <a:lnTo>
                  <a:pt x="460359" y="617600"/>
                </a:lnTo>
                <a:lnTo>
                  <a:pt x="500171" y="595524"/>
                </a:lnTo>
                <a:lnTo>
                  <a:pt x="536302" y="568263"/>
                </a:lnTo>
                <a:lnTo>
                  <a:pt x="568251" y="536318"/>
                </a:lnTo>
                <a:lnTo>
                  <a:pt x="595515" y="500188"/>
                </a:lnTo>
                <a:lnTo>
                  <a:pt x="617593" y="460375"/>
                </a:lnTo>
                <a:lnTo>
                  <a:pt x="633985" y="417380"/>
                </a:lnTo>
                <a:lnTo>
                  <a:pt x="644187" y="371705"/>
                </a:lnTo>
                <a:lnTo>
                  <a:pt x="647700" y="323850"/>
                </a:lnTo>
                <a:lnTo>
                  <a:pt x="644187" y="275994"/>
                </a:lnTo>
                <a:lnTo>
                  <a:pt x="633985" y="230319"/>
                </a:lnTo>
                <a:lnTo>
                  <a:pt x="617593" y="187324"/>
                </a:lnTo>
                <a:lnTo>
                  <a:pt x="595515" y="147511"/>
                </a:lnTo>
                <a:lnTo>
                  <a:pt x="568251" y="111381"/>
                </a:lnTo>
                <a:lnTo>
                  <a:pt x="536302" y="79436"/>
                </a:lnTo>
                <a:lnTo>
                  <a:pt x="500171" y="52175"/>
                </a:lnTo>
                <a:lnTo>
                  <a:pt x="460359" y="30099"/>
                </a:lnTo>
                <a:lnTo>
                  <a:pt x="417367" y="13711"/>
                </a:lnTo>
                <a:lnTo>
                  <a:pt x="371696" y="3511"/>
                </a:lnTo>
                <a:lnTo>
                  <a:pt x="323850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687050" y="6134100"/>
            <a:ext cx="247650" cy="247650"/>
          </a:xfrm>
          <a:prstGeom prst="rect">
            <a:avLst/>
          </a:prstGeom>
        </p:spPr>
      </p:pic>
      <p:grpSp>
        <p:nvGrpSpPr>
          <p:cNvPr id="18" name="object 18"/>
          <p:cNvGrpSpPr/>
          <p:nvPr/>
        </p:nvGrpSpPr>
        <p:grpSpPr>
          <a:xfrm>
            <a:off x="47625" y="3819523"/>
            <a:ext cx="4124325" cy="3009900"/>
            <a:chOff x="47625" y="3819523"/>
            <a:chExt cx="4124325" cy="3009900"/>
          </a:xfrm>
        </p:grpSpPr>
        <p:pic>
          <p:nvPicPr>
            <p:cNvPr id="19" name="object 1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66725" y="6410325"/>
              <a:ext cx="3705225" cy="295275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7625" y="3819523"/>
              <a:ext cx="1733550" cy="3009898"/>
            </a:xfrm>
            <a:prstGeom prst="rect">
              <a:avLst/>
            </a:prstGeom>
          </p:spPr>
        </p:pic>
      </p:grpSp>
      <p:sp>
        <p:nvSpPr>
          <p:cNvPr id="21" name="object 21"/>
          <p:cNvSpPr txBox="1">
            <a:spLocks noGrp="1"/>
          </p:cNvSpPr>
          <p:nvPr>
            <p:ph type="title"/>
          </p:nvPr>
        </p:nvSpPr>
        <p:spPr>
          <a:xfrm>
            <a:off x="739775" y="445388"/>
            <a:ext cx="2357120" cy="758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25" dirty="0"/>
              <a:t>A</a:t>
            </a:r>
            <a:r>
              <a:rPr spc="-5" dirty="0"/>
              <a:t>G</a:t>
            </a:r>
            <a:r>
              <a:rPr spc="-35" dirty="0"/>
              <a:t>E</a:t>
            </a:r>
            <a:r>
              <a:rPr spc="15" dirty="0"/>
              <a:t>N</a:t>
            </a:r>
            <a:r>
              <a:rPr dirty="0"/>
              <a:t>DA</a:t>
            </a:r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3</a:t>
            </a:fld>
            <a:endParaRPr spc="1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0827FA3-A9D4-0FE5-45BE-664C8C920E82}"/>
              </a:ext>
            </a:extLst>
          </p:cNvPr>
          <p:cNvSpPr txBox="1"/>
          <p:nvPr/>
        </p:nvSpPr>
        <p:spPr>
          <a:xfrm>
            <a:off x="2509807" y="1041533"/>
            <a:ext cx="502920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endParaRPr lang="en-US" sz="2800" b="0" i="0" dirty="0">
              <a:solidFill>
                <a:srgbClr val="0D0D0D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buFont typeface="+mj-lt"/>
              <a:buAutoNum type="arabicPeriod"/>
            </a:pPr>
            <a:r>
              <a:rPr lang="en-US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  <a:p>
            <a:pPr algn="l">
              <a:buFont typeface="+mj-lt"/>
              <a:buAutoNum type="arabicPeriod"/>
            </a:pPr>
            <a:r>
              <a:rPr lang="en-US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Project Overview</a:t>
            </a:r>
          </a:p>
          <a:p>
            <a:pPr algn="l">
              <a:buFont typeface="+mj-lt"/>
              <a:buAutoNum type="arabicPeriod"/>
            </a:pPr>
            <a:r>
              <a:rPr lang="en-US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End Users</a:t>
            </a:r>
          </a:p>
          <a:p>
            <a:pPr algn="l">
              <a:buFont typeface="+mj-lt"/>
              <a:buAutoNum type="arabicPeriod"/>
            </a:pPr>
            <a:r>
              <a:rPr lang="en-US" sz="2800" dirty="0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Tools and Technologies</a:t>
            </a:r>
            <a:endParaRPr lang="en-US" sz="2800" b="0" i="0" dirty="0">
              <a:solidFill>
                <a:srgbClr val="0D0D0D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buFont typeface="+mj-lt"/>
              <a:buAutoNum type="arabicPeriod"/>
            </a:pPr>
            <a:r>
              <a:rPr lang="en-US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Portfolio design and Layout</a:t>
            </a:r>
          </a:p>
          <a:p>
            <a:pPr algn="l">
              <a:buFont typeface="+mj-lt"/>
              <a:buAutoNum type="arabicPeriod"/>
            </a:pPr>
            <a:r>
              <a:rPr lang="en-US" sz="2800" dirty="0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Features and Functionality</a:t>
            </a:r>
            <a:endParaRPr lang="en-US" sz="2800" b="0" i="0" dirty="0">
              <a:solidFill>
                <a:srgbClr val="0D0D0D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buFont typeface="+mj-lt"/>
              <a:buAutoNum type="arabicPeriod"/>
            </a:pPr>
            <a:r>
              <a:rPr lang="en-US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Results and </a:t>
            </a:r>
            <a:r>
              <a:rPr lang="en-US" sz="2800" dirty="0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Screenshots</a:t>
            </a:r>
            <a:endParaRPr lang="en-US" sz="2800" b="0" i="0" dirty="0">
              <a:solidFill>
                <a:srgbClr val="0D0D0D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buFont typeface="+mj-lt"/>
              <a:buAutoNum type="arabicPeriod"/>
            </a:pPr>
            <a:r>
              <a:rPr lang="en-US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  <a:p>
            <a:pPr algn="l">
              <a:buFont typeface="+mj-lt"/>
              <a:buAutoNum type="arabicPeriod"/>
            </a:pPr>
            <a:r>
              <a:rPr lang="en-US" sz="2800" dirty="0" err="1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en-US" sz="2800" dirty="0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Link</a:t>
            </a:r>
            <a:endParaRPr lang="en-US" sz="2800" b="0" i="0" dirty="0">
              <a:solidFill>
                <a:srgbClr val="0D0D0D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7991475" y="2933700"/>
            <a:ext cx="2762250" cy="3257550"/>
            <a:chOff x="7991475" y="2933700"/>
            <a:chExt cx="2762250" cy="3257550"/>
          </a:xfrm>
        </p:grpSpPr>
        <p:sp>
          <p:nvSpPr>
            <p:cNvPr id="3" name="object 3"/>
            <p:cNvSpPr/>
            <p:nvPr/>
          </p:nvSpPr>
          <p:spPr>
            <a:xfrm>
              <a:off x="9353550" y="5362575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45720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457200" y="457200"/>
                  </a:lnTo>
                  <a:lnTo>
                    <a:pt x="457200" y="0"/>
                  </a:lnTo>
                  <a:close/>
                </a:path>
              </a:pathLst>
            </a:custGeom>
            <a:solidFill>
              <a:srgbClr val="42AF5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9353550" y="5895975"/>
              <a:ext cx="180975" cy="180975"/>
            </a:xfrm>
            <a:custGeom>
              <a:avLst/>
              <a:gdLst/>
              <a:ahLst/>
              <a:cxnLst/>
              <a:rect l="l" t="t" r="r" b="b"/>
              <a:pathLst>
                <a:path w="180975" h="180975">
                  <a:moveTo>
                    <a:pt x="180975" y="0"/>
                  </a:moveTo>
                  <a:lnTo>
                    <a:pt x="0" y="0"/>
                  </a:lnTo>
                  <a:lnTo>
                    <a:pt x="0" y="180975"/>
                  </a:lnTo>
                  <a:lnTo>
                    <a:pt x="180975" y="180975"/>
                  </a:lnTo>
                  <a:lnTo>
                    <a:pt x="180975" y="0"/>
                  </a:lnTo>
                  <a:close/>
                </a:path>
              </a:pathLst>
            </a:custGeom>
            <a:solidFill>
              <a:srgbClr val="2D936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991475" y="2933700"/>
              <a:ext cx="2762250" cy="3257550"/>
            </a:xfrm>
            <a:prstGeom prst="rect">
              <a:avLst/>
            </a:prstGeom>
          </p:spPr>
        </p:pic>
      </p:grpSp>
      <p:sp>
        <p:nvSpPr>
          <p:cNvPr id="6" name="object 6"/>
          <p:cNvSpPr/>
          <p:nvPr/>
        </p:nvSpPr>
        <p:spPr>
          <a:xfrm>
            <a:off x="6696075" y="1695450"/>
            <a:ext cx="314325" cy="323850"/>
          </a:xfrm>
          <a:custGeom>
            <a:avLst/>
            <a:gdLst/>
            <a:ahLst/>
            <a:cxnLst/>
            <a:rect l="l" t="t" r="r" b="b"/>
            <a:pathLst>
              <a:path w="314325" h="323850">
                <a:moveTo>
                  <a:pt x="314325" y="0"/>
                </a:moveTo>
                <a:lnTo>
                  <a:pt x="0" y="0"/>
                </a:lnTo>
                <a:lnTo>
                  <a:pt x="0" y="323850"/>
                </a:lnTo>
                <a:lnTo>
                  <a:pt x="314325" y="323850"/>
                </a:lnTo>
                <a:lnTo>
                  <a:pt x="314325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834072" y="575055"/>
            <a:ext cx="5636895" cy="678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  <a:tabLst>
                <a:tab pos="2727960" algn="l"/>
              </a:tabLst>
            </a:pPr>
            <a:r>
              <a:rPr sz="4250" spc="-20" dirty="0"/>
              <a:t>P</a:t>
            </a:r>
            <a:r>
              <a:rPr sz="4250" spc="15" dirty="0"/>
              <a:t>ROB</a:t>
            </a:r>
            <a:r>
              <a:rPr sz="4250" spc="55" dirty="0"/>
              <a:t>L</a:t>
            </a:r>
            <a:r>
              <a:rPr sz="4250" spc="-20" dirty="0"/>
              <a:t>E</a:t>
            </a:r>
            <a:r>
              <a:rPr sz="4250" spc="20" dirty="0"/>
              <a:t>M</a:t>
            </a:r>
            <a:r>
              <a:rPr sz="4250" dirty="0"/>
              <a:t>	</a:t>
            </a:r>
            <a:r>
              <a:rPr sz="4250" spc="10" dirty="0"/>
              <a:t>S</a:t>
            </a:r>
            <a:r>
              <a:rPr sz="4250" spc="-370" dirty="0"/>
              <a:t>T</a:t>
            </a:r>
            <a:r>
              <a:rPr sz="4250" spc="-375" dirty="0"/>
              <a:t>A</a:t>
            </a:r>
            <a:r>
              <a:rPr sz="4250" spc="15" dirty="0"/>
              <a:t>T</a:t>
            </a:r>
            <a:r>
              <a:rPr sz="4250" spc="-10" dirty="0"/>
              <a:t>E</a:t>
            </a:r>
            <a:r>
              <a:rPr sz="4250" spc="-20" dirty="0"/>
              <a:t>ME</a:t>
            </a:r>
            <a:r>
              <a:rPr sz="4250" spc="10" dirty="0"/>
              <a:t>NT</a:t>
            </a:r>
            <a:endParaRPr sz="4250"/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76275" y="6467475"/>
            <a:ext cx="2143125" cy="200025"/>
          </a:xfrm>
          <a:prstGeom prst="rect">
            <a:avLst/>
          </a:prstGeom>
        </p:spPr>
      </p:pic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4</a:t>
            </a:fld>
            <a:endParaRPr spc="1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B132C7-3B0A-8024-2B8D-4B8574D0BB2F}"/>
              </a:ext>
            </a:extLst>
          </p:cNvPr>
          <p:cNvSpPr txBox="1"/>
          <p:nvPr/>
        </p:nvSpPr>
        <p:spPr>
          <a:xfrm>
            <a:off x="676275" y="2051957"/>
            <a:ext cx="8001000" cy="230832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Organizations often struggle to make informed decisions due to the large volume of unstructured or complex data. The challenge is to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analyze diverse datasets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uncover actionable insights, and present them in a clear, interactive format that supports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data-driven decision-making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identifies trends, and highlights key performance indicators.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8658225" y="2647950"/>
            <a:ext cx="3533775" cy="3810000"/>
            <a:chOff x="8658225" y="2647950"/>
            <a:chExt cx="3533775" cy="3810000"/>
          </a:xfrm>
        </p:grpSpPr>
        <p:sp>
          <p:nvSpPr>
            <p:cNvPr id="3" name="object 3"/>
            <p:cNvSpPr/>
            <p:nvPr/>
          </p:nvSpPr>
          <p:spPr>
            <a:xfrm>
              <a:off x="9353550" y="5362575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45720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457200" y="457200"/>
                  </a:lnTo>
                  <a:lnTo>
                    <a:pt x="457200" y="0"/>
                  </a:lnTo>
                  <a:close/>
                </a:path>
              </a:pathLst>
            </a:custGeom>
            <a:solidFill>
              <a:srgbClr val="42AF5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9353550" y="5895975"/>
              <a:ext cx="180975" cy="180975"/>
            </a:xfrm>
            <a:custGeom>
              <a:avLst/>
              <a:gdLst/>
              <a:ahLst/>
              <a:cxnLst/>
              <a:rect l="l" t="t" r="r" b="b"/>
              <a:pathLst>
                <a:path w="180975" h="180975">
                  <a:moveTo>
                    <a:pt x="180975" y="0"/>
                  </a:moveTo>
                  <a:lnTo>
                    <a:pt x="0" y="0"/>
                  </a:lnTo>
                  <a:lnTo>
                    <a:pt x="0" y="180975"/>
                  </a:lnTo>
                  <a:lnTo>
                    <a:pt x="180975" y="180975"/>
                  </a:lnTo>
                  <a:lnTo>
                    <a:pt x="180975" y="0"/>
                  </a:lnTo>
                  <a:close/>
                </a:path>
              </a:pathLst>
            </a:custGeom>
            <a:solidFill>
              <a:srgbClr val="2D936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658225" y="2647950"/>
              <a:ext cx="3533775" cy="3810000"/>
            </a:xfrm>
            <a:prstGeom prst="rect">
              <a:avLst/>
            </a:prstGeom>
          </p:spPr>
        </p:pic>
      </p:grpSp>
      <p:sp>
        <p:nvSpPr>
          <p:cNvPr id="6" name="object 6"/>
          <p:cNvSpPr/>
          <p:nvPr/>
        </p:nvSpPr>
        <p:spPr>
          <a:xfrm>
            <a:off x="6696075" y="1695450"/>
            <a:ext cx="314325" cy="323850"/>
          </a:xfrm>
          <a:custGeom>
            <a:avLst/>
            <a:gdLst/>
            <a:ahLst/>
            <a:cxnLst/>
            <a:rect l="l" t="t" r="r" b="b"/>
            <a:pathLst>
              <a:path w="314325" h="323850">
                <a:moveTo>
                  <a:pt x="314325" y="0"/>
                </a:moveTo>
                <a:lnTo>
                  <a:pt x="0" y="0"/>
                </a:lnTo>
                <a:lnTo>
                  <a:pt x="0" y="323850"/>
                </a:lnTo>
                <a:lnTo>
                  <a:pt x="314325" y="323850"/>
                </a:lnTo>
                <a:lnTo>
                  <a:pt x="314325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739775" y="829627"/>
            <a:ext cx="5263515" cy="678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  <a:tabLst>
                <a:tab pos="2642870" algn="l"/>
              </a:tabLst>
            </a:pPr>
            <a:r>
              <a:rPr sz="4250" spc="5" dirty="0"/>
              <a:t>PROJECT	</a:t>
            </a:r>
            <a:r>
              <a:rPr sz="4250" spc="-20" dirty="0"/>
              <a:t>OVERVIEW</a:t>
            </a:r>
            <a:endParaRPr sz="4250"/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76275" y="6467475"/>
            <a:ext cx="2143125" cy="200025"/>
          </a:xfrm>
          <a:prstGeom prst="rect">
            <a:avLst/>
          </a:prstGeom>
        </p:spPr>
      </p:pic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5</a:t>
            </a:fld>
            <a:endParaRPr spc="1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9F6A47-6FC8-4448-7E35-EB81BEFF4E3F}"/>
              </a:ext>
            </a:extLst>
          </p:cNvPr>
          <p:cNvSpPr txBox="1"/>
          <p:nvPr/>
        </p:nvSpPr>
        <p:spPr>
          <a:xfrm>
            <a:off x="676275" y="2051957"/>
            <a:ext cx="8001000" cy="304698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focuses on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analyzing [Dataset/Domain]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uncover meaningful insights and support data-driven decisions. Using tools like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 BI, Excel, SQL, and Python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I cleaned and transformed the data, performed exploratory analysis, and created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dashboards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visualize trends, patterns, and key performance indicators. The project highlights my ability to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translate complex data into actionable insights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business impact.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353550" y="536257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0"/>
                </a:moveTo>
                <a:lnTo>
                  <a:pt x="0" y="0"/>
                </a:lnTo>
                <a:lnTo>
                  <a:pt x="0" y="457200"/>
                </a:lnTo>
                <a:lnTo>
                  <a:pt x="457200" y="457200"/>
                </a:lnTo>
                <a:lnTo>
                  <a:pt x="457200" y="0"/>
                </a:lnTo>
                <a:close/>
              </a:path>
            </a:pathLst>
          </a:custGeom>
          <a:solidFill>
            <a:srgbClr val="42AF5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6696075" y="1695450"/>
            <a:ext cx="314325" cy="323850"/>
          </a:xfrm>
          <a:custGeom>
            <a:avLst/>
            <a:gdLst/>
            <a:ahLst/>
            <a:cxnLst/>
            <a:rect l="l" t="t" r="r" b="b"/>
            <a:pathLst>
              <a:path w="314325" h="323850">
                <a:moveTo>
                  <a:pt x="314325" y="0"/>
                </a:moveTo>
                <a:lnTo>
                  <a:pt x="0" y="0"/>
                </a:lnTo>
                <a:lnTo>
                  <a:pt x="0" y="323850"/>
                </a:lnTo>
                <a:lnTo>
                  <a:pt x="314325" y="323850"/>
                </a:lnTo>
                <a:lnTo>
                  <a:pt x="314325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9353550" y="5895975"/>
            <a:ext cx="180975" cy="180975"/>
          </a:xfrm>
          <a:custGeom>
            <a:avLst/>
            <a:gdLst/>
            <a:ahLst/>
            <a:cxnLst/>
            <a:rect l="l" t="t" r="r" b="b"/>
            <a:pathLst>
              <a:path w="180975" h="180975">
                <a:moveTo>
                  <a:pt x="180975" y="0"/>
                </a:moveTo>
                <a:lnTo>
                  <a:pt x="0" y="0"/>
                </a:lnTo>
                <a:lnTo>
                  <a:pt x="0" y="180975"/>
                </a:lnTo>
                <a:lnTo>
                  <a:pt x="180975" y="180975"/>
                </a:lnTo>
                <a:lnTo>
                  <a:pt x="180975" y="0"/>
                </a:lnTo>
                <a:close/>
              </a:path>
            </a:pathLst>
          </a:custGeom>
          <a:solidFill>
            <a:srgbClr val="2D936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699452" y="891793"/>
            <a:ext cx="5014595" cy="51815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200" spc="25" dirty="0"/>
              <a:t>W</a:t>
            </a:r>
            <a:r>
              <a:rPr sz="3200" spc="-20" dirty="0"/>
              <a:t>H</a:t>
            </a:r>
            <a:r>
              <a:rPr sz="3200" spc="20" dirty="0"/>
              <a:t>O</a:t>
            </a:r>
            <a:r>
              <a:rPr sz="3200" spc="-235" dirty="0"/>
              <a:t> </a:t>
            </a:r>
            <a:r>
              <a:rPr sz="3200" spc="-10" dirty="0"/>
              <a:t>AR</a:t>
            </a:r>
            <a:r>
              <a:rPr sz="3200" spc="15" dirty="0"/>
              <a:t>E</a:t>
            </a:r>
            <a:r>
              <a:rPr sz="3200" spc="-35" dirty="0"/>
              <a:t> </a:t>
            </a:r>
            <a:r>
              <a:rPr sz="3200" spc="-10" dirty="0"/>
              <a:t>T</a:t>
            </a:r>
            <a:r>
              <a:rPr sz="3200" spc="-15" dirty="0"/>
              <a:t>H</a:t>
            </a:r>
            <a:r>
              <a:rPr sz="3200" spc="15" dirty="0"/>
              <a:t>E</a:t>
            </a:r>
            <a:r>
              <a:rPr sz="3200" spc="-35" dirty="0"/>
              <a:t> </a:t>
            </a:r>
            <a:r>
              <a:rPr sz="3200" spc="-20" dirty="0"/>
              <a:t>E</a:t>
            </a:r>
            <a:r>
              <a:rPr sz="3200" spc="30" dirty="0"/>
              <a:t>N</a:t>
            </a:r>
            <a:r>
              <a:rPr sz="3200" spc="15" dirty="0"/>
              <a:t>D</a:t>
            </a:r>
            <a:r>
              <a:rPr sz="3200" spc="-45" dirty="0"/>
              <a:t> </a:t>
            </a:r>
            <a:r>
              <a:rPr sz="3200" dirty="0"/>
              <a:t>U</a:t>
            </a:r>
            <a:r>
              <a:rPr sz="3200" spc="10" dirty="0"/>
              <a:t>S</a:t>
            </a:r>
            <a:r>
              <a:rPr sz="3200" spc="-25" dirty="0"/>
              <a:t>E</a:t>
            </a:r>
            <a:r>
              <a:rPr sz="3200" spc="-10" dirty="0"/>
              <a:t>R</a:t>
            </a:r>
            <a:r>
              <a:rPr sz="3200" spc="5" dirty="0"/>
              <a:t>S?</a:t>
            </a:r>
            <a:endParaRPr sz="3200" dirty="0"/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3900" y="6172200"/>
            <a:ext cx="2181225" cy="485775"/>
          </a:xfrm>
          <a:prstGeom prst="rect">
            <a:avLst/>
          </a:prstGeom>
        </p:spPr>
      </p:pic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6</a:t>
            </a:fld>
            <a:endParaRPr spc="1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CE90B3-AD31-E3C7-BAEC-5460D269DD7D}"/>
              </a:ext>
            </a:extLst>
          </p:cNvPr>
          <p:cNvSpPr txBox="1"/>
          <p:nvPr/>
        </p:nvSpPr>
        <p:spPr>
          <a:xfrm>
            <a:off x="676275" y="2051957"/>
            <a:ext cx="8001000" cy="267765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dirty="0"/>
              <a:t>The end users of this project are </a:t>
            </a:r>
            <a:r>
              <a:rPr lang="en-US" sz="2400" b="1" dirty="0"/>
              <a:t>business managers, HR leaders, and decision-makers</a:t>
            </a:r>
            <a:r>
              <a:rPr lang="en-US" sz="2400" dirty="0"/>
              <a:t> who need actionable insights to improve performance, optimize operations, and make informed strategic decisions. The dashboards and analyses are designed to be </a:t>
            </a:r>
            <a:r>
              <a:rPr lang="en-US" sz="2400" b="1" dirty="0"/>
              <a:t>interactive and user-friendly</a:t>
            </a:r>
            <a:r>
              <a:rPr lang="en-US" sz="2400" dirty="0"/>
              <a:t>, enabling stakeholders to quickly explore trends, monitor KPIs, and identify opportunities for improvement.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476375"/>
            <a:ext cx="2695574" cy="3248025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9353550" y="536257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0"/>
                </a:moveTo>
                <a:lnTo>
                  <a:pt x="0" y="0"/>
                </a:lnTo>
                <a:lnTo>
                  <a:pt x="0" y="457200"/>
                </a:lnTo>
                <a:lnTo>
                  <a:pt x="457200" y="457200"/>
                </a:lnTo>
                <a:lnTo>
                  <a:pt x="457200" y="0"/>
                </a:lnTo>
                <a:close/>
              </a:path>
            </a:pathLst>
          </a:custGeom>
          <a:solidFill>
            <a:srgbClr val="42AF5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6696075" y="1695450"/>
            <a:ext cx="314325" cy="323850"/>
          </a:xfrm>
          <a:custGeom>
            <a:avLst/>
            <a:gdLst/>
            <a:ahLst/>
            <a:cxnLst/>
            <a:rect l="l" t="t" r="r" b="b"/>
            <a:pathLst>
              <a:path w="314325" h="323850">
                <a:moveTo>
                  <a:pt x="314325" y="0"/>
                </a:moveTo>
                <a:lnTo>
                  <a:pt x="0" y="0"/>
                </a:lnTo>
                <a:lnTo>
                  <a:pt x="0" y="323850"/>
                </a:lnTo>
                <a:lnTo>
                  <a:pt x="314325" y="323850"/>
                </a:lnTo>
                <a:lnTo>
                  <a:pt x="314325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9353550" y="5895975"/>
            <a:ext cx="180975" cy="180975"/>
          </a:xfrm>
          <a:custGeom>
            <a:avLst/>
            <a:gdLst/>
            <a:ahLst/>
            <a:cxnLst/>
            <a:rect l="l" t="t" r="r" b="b"/>
            <a:pathLst>
              <a:path w="180975" h="180975">
                <a:moveTo>
                  <a:pt x="180975" y="0"/>
                </a:moveTo>
                <a:lnTo>
                  <a:pt x="0" y="0"/>
                </a:lnTo>
                <a:lnTo>
                  <a:pt x="0" y="180975"/>
                </a:lnTo>
                <a:lnTo>
                  <a:pt x="180975" y="180975"/>
                </a:lnTo>
                <a:lnTo>
                  <a:pt x="180975" y="0"/>
                </a:lnTo>
                <a:close/>
              </a:path>
            </a:pathLst>
          </a:custGeom>
          <a:solidFill>
            <a:srgbClr val="2D936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558800" y="965221"/>
            <a:ext cx="9763125" cy="5753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IN" sz="3600" spc="10" dirty="0"/>
              <a:t>TOOLS AND TECHNIQUES</a:t>
            </a:r>
            <a:endParaRPr sz="3600" dirty="0"/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76275" y="6467475"/>
            <a:ext cx="2143125" cy="200025"/>
          </a:xfrm>
          <a:prstGeom prst="rect">
            <a:avLst/>
          </a:prstGeom>
        </p:spPr>
      </p:pic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7</a:t>
            </a:fld>
            <a:endParaRPr spc="10" dirty="0"/>
          </a:p>
        </p:txBody>
      </p:sp>
      <p:sp>
        <p:nvSpPr>
          <p:cNvPr id="14" name="Rectangle 4">
            <a:extLst>
              <a:ext uri="{FF2B5EF4-FFF2-40B4-BE49-F238E27FC236}">
                <a16:creationId xmlns:a16="http://schemas.microsoft.com/office/drawing/2014/main" id="{64931ECA-BE35-ADF0-6A01-A4E3B7F24E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0" y="2286000"/>
            <a:ext cx="8001000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 &amp; Transformation: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Excel, Python (Pandas, NumPy)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Analysis &amp; Modeling: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SQL, Python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&amp; Dashboarding: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Power BI, Tableau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Techniques Applied: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Exploratory Data Analysis (EDA), Trend Analysis, KPI Monitoring, Interactive Dashboard Design, DAX Calculations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/>
          <p:nvPr/>
        </p:nvSpPr>
        <p:spPr>
          <a:xfrm>
            <a:off x="9353550" y="5895975"/>
            <a:ext cx="180975" cy="180975"/>
          </a:xfrm>
          <a:custGeom>
            <a:avLst/>
            <a:gdLst/>
            <a:ahLst/>
            <a:cxnLst/>
            <a:rect l="l" t="t" r="r" b="b"/>
            <a:pathLst>
              <a:path w="180975" h="180975">
                <a:moveTo>
                  <a:pt x="180975" y="0"/>
                </a:moveTo>
                <a:lnTo>
                  <a:pt x="0" y="0"/>
                </a:lnTo>
                <a:lnTo>
                  <a:pt x="0" y="180975"/>
                </a:lnTo>
                <a:lnTo>
                  <a:pt x="180975" y="180975"/>
                </a:lnTo>
                <a:lnTo>
                  <a:pt x="180975" y="0"/>
                </a:lnTo>
                <a:close/>
              </a:path>
            </a:pathLst>
          </a:custGeom>
          <a:solidFill>
            <a:srgbClr val="2D936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66875" y="6467475"/>
            <a:ext cx="76200" cy="177800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11277218" y="6473337"/>
            <a:ext cx="228600" cy="19177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z="1100" spc="10" dirty="0">
                <a:solidFill>
                  <a:srgbClr val="2D936B"/>
                </a:solidFill>
                <a:latin typeface="Trebuchet MS"/>
                <a:cs typeface="Trebuchet MS"/>
              </a:rPr>
              <a:t>8</a:t>
            </a:fld>
            <a:endParaRPr sz="1100">
              <a:latin typeface="Trebuchet MS"/>
              <a:cs typeface="Trebuchet M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39775" y="291147"/>
            <a:ext cx="8794750" cy="62901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IN" sz="4000" b="1" spc="15" dirty="0">
                <a:latin typeface="Trebuchet MS"/>
                <a:cs typeface="Trebuchet MS"/>
              </a:rPr>
              <a:t>POTFOLIO DESIGN AND LAYOUT</a:t>
            </a:r>
            <a:endParaRPr sz="4000" dirty="0">
              <a:latin typeface="Trebuchet MS"/>
              <a:cs typeface="Trebuchet MS"/>
            </a:endParaRPr>
          </a:p>
        </p:txBody>
      </p:sp>
      <p:sp>
        <p:nvSpPr>
          <p:cNvPr id="14" name="object 3"/>
          <p:cNvSpPr/>
          <p:nvPr/>
        </p:nvSpPr>
        <p:spPr>
          <a:xfrm>
            <a:off x="10058400" y="525141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0"/>
                </a:moveTo>
                <a:lnTo>
                  <a:pt x="0" y="0"/>
                </a:lnTo>
                <a:lnTo>
                  <a:pt x="0" y="457200"/>
                </a:lnTo>
                <a:lnTo>
                  <a:pt x="457200" y="457200"/>
                </a:lnTo>
                <a:lnTo>
                  <a:pt x="457200" y="0"/>
                </a:lnTo>
                <a:close/>
              </a:path>
            </a:pathLst>
          </a:custGeom>
          <a:solidFill>
            <a:srgbClr val="42AF5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826865E2-42A8-FFDA-4EE1-96C325F31E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9775" y="1644134"/>
            <a:ext cx="8001000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portfolio is designed with a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clean, modern, and user-friendly layout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highlight projects effectively. Each project section includes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statement, project overview, tools &amp; techniques, key insights, and visualizations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Interactive elements like dashboards, charts, and filters are showcased to demonstrate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practical data analysis skills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The design emphasizes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clarity, consistency, and easy navigation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recruiters and stakeholders.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6195E-16D6-79D8-7A9F-F8EB1FE9E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FEATURES AND FUNCTIONALITY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D5FA86AE-BBE3-549B-5F07-D7506A6BD5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6884" y="1720840"/>
            <a:ext cx="9013825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Dashboards: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Filter and explore data by role, department, age, or other variables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 Insights: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Charts, graphs, and KPI indicators for quick decision-making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Trend Analysis: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Identify patterns in attrition, sales, or performance metrics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Data-Driven Recommendations: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Actionable insights for stakeholders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User-Friendly Design: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Clean layout with easy navigation for end users</a:t>
            </a:r>
          </a:p>
        </p:txBody>
      </p:sp>
    </p:spTree>
    <p:extLst>
      <p:ext uri="{BB962C8B-B14F-4D97-AF65-F5344CB8AC3E}">
        <p14:creationId xmlns:p14="http://schemas.microsoft.com/office/powerpoint/2010/main" val="27206606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52475" y="6486037"/>
            <a:ext cx="1773555" cy="16637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275"/>
              </a:lnSpc>
            </a:pPr>
            <a:r>
              <a:rPr sz="1100" spc="20" dirty="0">
                <a:solidFill>
                  <a:srgbClr val="2D83C3"/>
                </a:solidFill>
                <a:latin typeface="Trebuchet MS"/>
                <a:cs typeface="Trebuchet MS"/>
              </a:rPr>
              <a:t>3/21/202</a:t>
            </a:r>
            <a:r>
              <a:rPr sz="1100" spc="10" dirty="0">
                <a:solidFill>
                  <a:srgbClr val="2D83C3"/>
                </a:solidFill>
                <a:latin typeface="Trebuchet MS"/>
                <a:cs typeface="Trebuchet MS"/>
              </a:rPr>
              <a:t>4</a:t>
            </a:r>
            <a:r>
              <a:rPr sz="1100" dirty="0">
                <a:solidFill>
                  <a:srgbClr val="2D83C3"/>
                </a:solidFill>
                <a:latin typeface="Trebuchet MS"/>
                <a:cs typeface="Trebuchet MS"/>
              </a:rPr>
              <a:t> </a:t>
            </a:r>
            <a:r>
              <a:rPr sz="1100" spc="130" dirty="0">
                <a:solidFill>
                  <a:srgbClr val="2D83C3"/>
                </a:solidFill>
                <a:latin typeface="Trebuchet MS"/>
                <a:cs typeface="Trebuchet MS"/>
              </a:rPr>
              <a:t> </a:t>
            </a:r>
            <a:r>
              <a:rPr sz="1100" b="1" spc="50" dirty="0">
                <a:solidFill>
                  <a:srgbClr val="2D83C3"/>
                </a:solidFill>
                <a:latin typeface="Trebuchet MS"/>
                <a:cs typeface="Trebuchet MS"/>
              </a:rPr>
              <a:t>A</a:t>
            </a:r>
            <a:r>
              <a:rPr sz="1100" b="1" spc="15" dirty="0">
                <a:solidFill>
                  <a:srgbClr val="2D83C3"/>
                </a:solidFill>
                <a:latin typeface="Trebuchet MS"/>
                <a:cs typeface="Trebuchet MS"/>
              </a:rPr>
              <a:t>nnu</a:t>
            </a:r>
            <a:r>
              <a:rPr sz="1100" b="1" spc="10" dirty="0">
                <a:solidFill>
                  <a:srgbClr val="2D83C3"/>
                </a:solidFill>
                <a:latin typeface="Trebuchet MS"/>
                <a:cs typeface="Trebuchet MS"/>
              </a:rPr>
              <a:t>al</a:t>
            </a:r>
            <a:r>
              <a:rPr sz="1100" b="1" spc="-140" dirty="0">
                <a:solidFill>
                  <a:srgbClr val="2D83C3"/>
                </a:solidFill>
                <a:latin typeface="Trebuchet MS"/>
                <a:cs typeface="Trebuchet MS"/>
              </a:rPr>
              <a:t> </a:t>
            </a:r>
            <a:r>
              <a:rPr sz="1100" b="1" dirty="0">
                <a:solidFill>
                  <a:srgbClr val="2D83C3"/>
                </a:solidFill>
                <a:latin typeface="Trebuchet MS"/>
                <a:cs typeface="Trebuchet MS"/>
              </a:rPr>
              <a:t>R</a:t>
            </a:r>
            <a:r>
              <a:rPr sz="1100" b="1" spc="35" dirty="0">
                <a:solidFill>
                  <a:srgbClr val="2D83C3"/>
                </a:solidFill>
                <a:latin typeface="Trebuchet MS"/>
                <a:cs typeface="Trebuchet MS"/>
              </a:rPr>
              <a:t>e</a:t>
            </a:r>
            <a:r>
              <a:rPr sz="1100" b="1" spc="90" dirty="0">
                <a:solidFill>
                  <a:srgbClr val="2D83C3"/>
                </a:solidFill>
                <a:latin typeface="Trebuchet MS"/>
                <a:cs typeface="Trebuchet MS"/>
              </a:rPr>
              <a:t>v</a:t>
            </a:r>
            <a:r>
              <a:rPr sz="1100" b="1" spc="-35" dirty="0">
                <a:solidFill>
                  <a:srgbClr val="2D83C3"/>
                </a:solidFill>
                <a:latin typeface="Trebuchet MS"/>
                <a:cs typeface="Trebuchet MS"/>
              </a:rPr>
              <a:t>i</a:t>
            </a:r>
            <a:r>
              <a:rPr sz="1100" b="1" spc="35" dirty="0">
                <a:solidFill>
                  <a:srgbClr val="2D83C3"/>
                </a:solidFill>
                <a:latin typeface="Trebuchet MS"/>
                <a:cs typeface="Trebuchet MS"/>
              </a:rPr>
              <a:t>e</a:t>
            </a:r>
            <a:r>
              <a:rPr sz="1100" b="1" spc="15" dirty="0">
                <a:solidFill>
                  <a:srgbClr val="2D83C3"/>
                </a:solidFill>
                <a:latin typeface="Trebuchet MS"/>
                <a:cs typeface="Trebuchet MS"/>
              </a:rPr>
              <a:t>w</a:t>
            </a:r>
            <a:endParaRPr sz="1100">
              <a:latin typeface="Trebuchet MS"/>
              <a:cs typeface="Trebuchet MS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9353550" y="536257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0"/>
                </a:moveTo>
                <a:lnTo>
                  <a:pt x="0" y="0"/>
                </a:lnTo>
                <a:lnTo>
                  <a:pt x="0" y="457200"/>
                </a:lnTo>
                <a:lnTo>
                  <a:pt x="457200" y="457200"/>
                </a:lnTo>
                <a:lnTo>
                  <a:pt x="457200" y="0"/>
                </a:lnTo>
                <a:close/>
              </a:path>
            </a:pathLst>
          </a:custGeom>
          <a:solidFill>
            <a:srgbClr val="42AF5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6696075" y="1695450"/>
            <a:ext cx="314325" cy="323850"/>
          </a:xfrm>
          <a:custGeom>
            <a:avLst/>
            <a:gdLst/>
            <a:ahLst/>
            <a:cxnLst/>
            <a:rect l="l" t="t" r="r" b="b"/>
            <a:pathLst>
              <a:path w="314325" h="323850">
                <a:moveTo>
                  <a:pt x="314325" y="0"/>
                </a:moveTo>
                <a:lnTo>
                  <a:pt x="0" y="0"/>
                </a:lnTo>
                <a:lnTo>
                  <a:pt x="0" y="323850"/>
                </a:lnTo>
                <a:lnTo>
                  <a:pt x="314325" y="323850"/>
                </a:lnTo>
                <a:lnTo>
                  <a:pt x="314325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9353550" y="5895975"/>
            <a:ext cx="180975" cy="180975"/>
          </a:xfrm>
          <a:custGeom>
            <a:avLst/>
            <a:gdLst/>
            <a:ahLst/>
            <a:cxnLst/>
            <a:rect l="l" t="t" r="r" b="b"/>
            <a:pathLst>
              <a:path w="180975" h="180975">
                <a:moveTo>
                  <a:pt x="180975" y="0"/>
                </a:moveTo>
                <a:lnTo>
                  <a:pt x="0" y="0"/>
                </a:lnTo>
                <a:lnTo>
                  <a:pt x="0" y="180975"/>
                </a:lnTo>
                <a:lnTo>
                  <a:pt x="180975" y="180975"/>
                </a:lnTo>
                <a:lnTo>
                  <a:pt x="180975" y="0"/>
                </a:lnTo>
                <a:close/>
              </a:path>
            </a:pathLst>
          </a:custGeom>
          <a:solidFill>
            <a:srgbClr val="2D936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675" y="3381373"/>
            <a:ext cx="2466975" cy="3419475"/>
          </a:xfrm>
          <a:prstGeom prst="rect">
            <a:avLst/>
          </a:prstGeom>
        </p:spPr>
      </p:pic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739775" y="654938"/>
            <a:ext cx="8480425" cy="670696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en-IN" sz="4250" spc="15" dirty="0"/>
              <a:t>RESULTS AND SCREENSHOTS</a:t>
            </a:r>
            <a:endParaRPr sz="4250" dirty="0"/>
          </a:p>
        </p:txBody>
      </p:sp>
      <p:sp>
        <p:nvSpPr>
          <p:cNvPr id="8" name="object 8"/>
          <p:cNvSpPr txBox="1"/>
          <p:nvPr/>
        </p:nvSpPr>
        <p:spPr>
          <a:xfrm>
            <a:off x="11277218" y="6473337"/>
            <a:ext cx="228600" cy="19177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z="1100" spc="10" dirty="0">
                <a:solidFill>
                  <a:srgbClr val="2D936B"/>
                </a:solidFill>
                <a:latin typeface="Trebuchet MS"/>
                <a:cs typeface="Trebuchet MS"/>
              </a:rPr>
              <a:t>10</a:t>
            </a:fld>
            <a:endParaRPr sz="1100">
              <a:latin typeface="Trebuchet MS"/>
              <a:cs typeface="Trebuchet M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D9CEB2-36E1-0550-426B-2FAF97882044}"/>
              </a:ext>
            </a:extLst>
          </p:cNvPr>
          <p:cNvSpPr txBox="1"/>
          <p:nvPr/>
        </p:nvSpPr>
        <p:spPr>
          <a:xfrm>
            <a:off x="2743200" y="2354703"/>
            <a:ext cx="853401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en-US" sz="2800" b="0" i="0" dirty="0">
              <a:solidFill>
                <a:srgbClr val="0D0D0D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E41FAFF-DF99-9F08-1531-6D9B6CF28FB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3650" y="2320753"/>
            <a:ext cx="6496852" cy="36544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9353550" y="536257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0"/>
                </a:moveTo>
                <a:lnTo>
                  <a:pt x="0" y="0"/>
                </a:lnTo>
                <a:lnTo>
                  <a:pt x="0" y="457200"/>
                </a:lnTo>
                <a:lnTo>
                  <a:pt x="457200" y="457200"/>
                </a:lnTo>
                <a:lnTo>
                  <a:pt x="457200" y="0"/>
                </a:lnTo>
                <a:close/>
              </a:path>
            </a:pathLst>
          </a:custGeom>
          <a:solidFill>
            <a:srgbClr val="42AF5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6696075" y="1695450"/>
            <a:ext cx="314325" cy="323850"/>
          </a:xfrm>
          <a:custGeom>
            <a:avLst/>
            <a:gdLst/>
            <a:ahLst/>
            <a:cxnLst/>
            <a:rect l="l" t="t" r="r" b="b"/>
            <a:pathLst>
              <a:path w="314325" h="323850">
                <a:moveTo>
                  <a:pt x="314325" y="0"/>
                </a:moveTo>
                <a:lnTo>
                  <a:pt x="0" y="0"/>
                </a:lnTo>
                <a:lnTo>
                  <a:pt x="0" y="323850"/>
                </a:lnTo>
                <a:lnTo>
                  <a:pt x="314325" y="323850"/>
                </a:lnTo>
                <a:lnTo>
                  <a:pt x="314325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9353550" y="5895975"/>
            <a:ext cx="180975" cy="180975"/>
          </a:xfrm>
          <a:custGeom>
            <a:avLst/>
            <a:gdLst/>
            <a:ahLst/>
            <a:cxnLst/>
            <a:rect l="l" t="t" r="r" b="b"/>
            <a:pathLst>
              <a:path w="180975" h="180975">
                <a:moveTo>
                  <a:pt x="180975" y="0"/>
                </a:moveTo>
                <a:lnTo>
                  <a:pt x="0" y="0"/>
                </a:lnTo>
                <a:lnTo>
                  <a:pt x="0" y="180975"/>
                </a:lnTo>
                <a:lnTo>
                  <a:pt x="180975" y="180975"/>
                </a:lnTo>
                <a:lnTo>
                  <a:pt x="180975" y="0"/>
                </a:lnTo>
                <a:close/>
              </a:path>
            </a:pathLst>
          </a:custGeom>
          <a:solidFill>
            <a:srgbClr val="2D936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66875" y="6467475"/>
            <a:ext cx="76200" cy="177800"/>
          </a:xfrm>
          <a:prstGeom prst="rect">
            <a:avLst/>
          </a:prstGeom>
        </p:spPr>
      </p:pic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755332" y="385444"/>
            <a:ext cx="4578668" cy="7521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IN" dirty="0"/>
              <a:t>CONCLUSION</a:t>
            </a:r>
            <a:endParaRPr dirty="0"/>
          </a:p>
        </p:txBody>
      </p:sp>
      <p:sp>
        <p:nvSpPr>
          <p:cNvPr id="9" name="object 9"/>
          <p:cNvSpPr txBox="1"/>
          <p:nvPr/>
        </p:nvSpPr>
        <p:spPr>
          <a:xfrm>
            <a:off x="11277218" y="6473337"/>
            <a:ext cx="228600" cy="19177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z="1100" spc="10" dirty="0">
                <a:solidFill>
                  <a:srgbClr val="2D936B"/>
                </a:solidFill>
                <a:latin typeface="Trebuchet MS"/>
                <a:cs typeface="Trebuchet MS"/>
              </a:rPr>
              <a:t>11</a:t>
            </a:fld>
            <a:endParaRPr sz="1100">
              <a:latin typeface="Trebuchet MS"/>
              <a:cs typeface="Trebuchet MS"/>
            </a:endParaRPr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93C67AB5-D5EC-ABBE-C666-FE430D667E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6884" y="2274838"/>
            <a:ext cx="901382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/>
              <a:t>This project demonstrates the ability to </a:t>
            </a:r>
            <a:r>
              <a:rPr lang="en-US" sz="2400" b="1" dirty="0"/>
              <a:t>transform raw data into actionable insights</a:t>
            </a:r>
            <a:r>
              <a:rPr lang="en-US" sz="2400" dirty="0"/>
              <a:t> using data cleaning, analysis, and visualization techniques. The interactive dashboards and visualizations provide stakeholders with </a:t>
            </a:r>
            <a:r>
              <a:rPr lang="en-US" sz="2400" b="1" dirty="0"/>
              <a:t>clear, data-driven insights</a:t>
            </a:r>
            <a:r>
              <a:rPr lang="en-US" sz="2400" dirty="0"/>
              <a:t> to support informed decision-making, monitor trends, and identify opportunities for improvement.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360</TotalTime>
  <Words>518</Words>
  <Application>Microsoft Office PowerPoint</Application>
  <PresentationFormat>Widescreen</PresentationFormat>
  <Paragraphs>54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Roboto</vt:lpstr>
      <vt:lpstr>Times New Roman</vt:lpstr>
      <vt:lpstr>Trebuchet MS</vt:lpstr>
      <vt:lpstr>Office Theme</vt:lpstr>
      <vt:lpstr>Digital Portfolio  </vt:lpstr>
      <vt:lpstr>PROJECT TITLE</vt:lpstr>
      <vt:lpstr>AGENDA</vt:lpstr>
      <vt:lpstr>PROBLEM STATEMENT</vt:lpstr>
      <vt:lpstr>PROJECT OVERVIEW</vt:lpstr>
      <vt:lpstr>WHO ARE THE END USERS?</vt:lpstr>
      <vt:lpstr>TOOLS AND TECHNIQUES</vt:lpstr>
      <vt:lpstr>PowerPoint Presentation</vt:lpstr>
      <vt:lpstr>FEATURES AND FUNCTIONALITY</vt:lpstr>
      <vt:lpstr>RESULTS AND SCREENSHOTS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Face Mask Detection using Convolutional Neural Network (CNN)  </dc:title>
  <dc:creator>Konduru Narasimha</dc:creator>
  <cp:lastModifiedBy>Rakesh Kumar</cp:lastModifiedBy>
  <cp:revision>23</cp:revision>
  <dcterms:created xsi:type="dcterms:W3CDTF">2024-03-29T15:07:22Z</dcterms:created>
  <dcterms:modified xsi:type="dcterms:W3CDTF">2025-09-02T14:43:06Z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2024-03-21T00:00:00Z</vt:filetime>
  </property>
  <property fmtid="{D5CDD505-2E9C-101B-9397-08002B2CF9AE}" pid="3" name="LastSaved">
    <vt:filetime>2024-03-29T00:00:00Z</vt:filetime>
  </property>
</Properties>
</file>